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130c9665924b34" /><Relationship Type="http://schemas.openxmlformats.org/officeDocument/2006/relationships/extended-properties" Target="/docProps/app.xml" Id="R63e51b4717724ae0" /><Relationship Type="http://schemas.openxmlformats.org/officeDocument/2006/relationships/officeDocument" Target="/ppt/presentation.xml" Id="R5e68166d5d764dd4" /></Relationships>
</file>

<file path=ppt/presentation.xml><?xml version="1.0" encoding="utf-8"?>
<p:presentation xmlns:p="http://schemas.openxmlformats.org/presentationml/2006/main">
  <p:sldMasterIdLst>
    <p:sldMasterId xmlns:r="http://schemas.openxmlformats.org/officeDocument/2006/relationships" id="2147483648" r:id="Rf2ca99c850bb40be"/>
  </p:sldMasterIdLst>
  <p:notesMasterIdLst>
    <p:notesMasterId xmlns:r="http://schemas.openxmlformats.org/officeDocument/2006/relationships" r:id="R0bb43389618d4243"/>
  </p:notesMasterIdLst>
  <p:sldIdLst>
    <p:sldId xmlns:r="http://schemas.openxmlformats.org/officeDocument/2006/relationships" id="256" r:id="Rc8cf009a378443dd"/>
    <p:sldId xmlns:r="http://schemas.openxmlformats.org/officeDocument/2006/relationships" id="257" r:id="Rd65a1d426dd04c7b"/>
    <p:sldId xmlns:r="http://schemas.openxmlformats.org/officeDocument/2006/relationships" id="258" r:id="R5ae11c2fe5544074"/>
    <p:sldId xmlns:r="http://schemas.openxmlformats.org/officeDocument/2006/relationships" id="259" r:id="R5cd108e1ae5f49f1"/>
    <p:sldId xmlns:r="http://schemas.openxmlformats.org/officeDocument/2006/relationships" id="260" r:id="R29c5ec215fcb45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89f834f44d4ae9" /><Relationship Type="http://schemas.openxmlformats.org/officeDocument/2006/relationships/slideMaster" Target="/ppt/slideMasters/slideMaster1.xml" Id="Rf2ca99c850bb40be" /><Relationship Type="http://schemas.openxmlformats.org/officeDocument/2006/relationships/notesMaster" Target="/ppt/notesMasters/notesMaster1.xml" Id="R0bb43389618d4243" /><Relationship Type="http://schemas.openxmlformats.org/officeDocument/2006/relationships/presProps" Target="/ppt/presProps.xml" Id="R81f368377503420e" /><Relationship Type="http://schemas.openxmlformats.org/officeDocument/2006/relationships/tableStyles" Target="/ppt/tableStyles.xml" Id="R1c2cb0446444412b" /><Relationship Type="http://schemas.openxmlformats.org/officeDocument/2006/relationships/slide" Target="/ppt/slides/slide1.xml" Id="Rc8cf009a378443dd" /><Relationship Type="http://schemas.openxmlformats.org/officeDocument/2006/relationships/slide" Target="/ppt/slides/slide2.xml" Id="Rd65a1d426dd04c7b" /><Relationship Type="http://schemas.openxmlformats.org/officeDocument/2006/relationships/slide" Target="/ppt/slides/slide3.xml" Id="R5ae11c2fe5544074" /><Relationship Type="http://schemas.openxmlformats.org/officeDocument/2006/relationships/slide" Target="/ppt/slides/slide4.xml" Id="R5cd108e1ae5f49f1" /><Relationship Type="http://schemas.openxmlformats.org/officeDocument/2006/relationships/slide" Target="/ppt/slides/slide5.xml" Id="R29c5ec215fcb45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fb89fb2c9548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083b0c60bb43c9" /><Relationship Type="http://schemas.openxmlformats.org/officeDocument/2006/relationships/notesMaster" Target="/ppt/notesMasters/notesMaster1.xml" Id="R840fe282a80944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eff3115cbc4eaf" /><Relationship Type="http://schemas.openxmlformats.org/officeDocument/2006/relationships/notesMaster" Target="/ppt/notesMasters/notesMaster1.xml" Id="Re9b98f27ee254d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6e83dfb43545bc" /><Relationship Type="http://schemas.openxmlformats.org/officeDocument/2006/relationships/notesMaster" Target="/ppt/notesMasters/notesMaster1.xml" Id="R51a6c1b3d8ea42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f4ad98855048fb" /><Relationship Type="http://schemas.openxmlformats.org/officeDocument/2006/relationships/notesMaster" Target="/ppt/notesMasters/notesMaster1.xml" Id="R50a1921973e144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e4962ecfc84c46" /><Relationship Type="http://schemas.openxmlformats.org/officeDocument/2006/relationships/notesMaster" Target="/ppt/notesMasters/notesMaster1.xml" Id="R8e50d760538c46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explores recorded retail activity rather than claiming confirmed revenue or current store performance. It uses Excel summaries and a dashboard to support questions about merchandising and operations.</a:t>
            </a:r>
          </a:p>
          <a:p xmlns:a="http://schemas.openxmlformats.org/drawingml/2006/main">
            <a:r>
              <a:t/>
            </a:r>
          </a:p>
          <a:p xmlns:a="http://schemas.openxmlformats.org/drawingml/2006/main">
            <a:r>
              <a:t>Source: supplied Vrinda Store Excel workbook, 2022 records. Guided project learning reference: https://www.youtube.com/watch?v=gTK5rNhWJyA. Charts contain editable full-data snapshots. Amount is the sum of source entries across all statuses, not confirmed net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workbook contains 31,047 records and 28,471 distinct Order IDs. The distinction is documented, but why IDs repeat remains unresolved. Do not delete repeated IDs without understanding their business meaning. Recorded amount could require adjustment if order totals repeat on multiple rows. Validation confirms arithmetic rather than order-level accounting.</a:t>
            </a:r>
          </a:p>
          <a:p xmlns:a="http://schemas.openxmlformats.org/drawingml/2006/main">
            <a:r>
              <a:t/>
            </a:r>
          </a:p>
          <a:p xmlns:a="http://schemas.openxmlformats.org/drawingml/2006/main">
            <a:r>
              <a:t>Source: supplied Vrinda Store Excel workbook, 2022 records. Guided project learning reference: https://www.youtube.com/watch?v=gTK5rNhWJyA. Charts contain editable full-data snapshots. Amount is the sum of source entries across all statuses, not confirmed net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Amazon accounts for 35.51%, Myntra for 23.34% and Flipkart for 21.60%. Their combined share is 80.44% using unrounded source values. Other channels are Ajio, Nalli, Meesho and Others. These shares include all statuses and retain repeated IDs. Marketing budget decisions require channel costs and controlled tests.</a:t>
            </a:r>
          </a:p>
          <a:p xmlns:a="http://schemas.openxmlformats.org/drawingml/2006/main">
            <a:r>
              <a:t/>
            </a:r>
          </a:p>
          <a:p xmlns:a="http://schemas.openxmlformats.org/drawingml/2006/main">
            <a:r>
              <a:t>Source: supplied Vrinda Store Excel workbook, 2022 records. Guided project learning reference: https://www.youtube.com/watch?v=gTK5rNhWJyA. Charts contain editable full-data snapshots. Amount is the sum of source entries across all statuses, not confirmed net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Women account for INR 13,562,773 and men INR 7,613,604. Those are amount shares, not customer shares. March has the highest recorded amount. Delivered amount is INR 19,710,544. A status breakdown does not itself establish net revenue. Refund timing and repeated-ID meaning remain relevant.</a:t>
            </a:r>
          </a:p>
          <a:p xmlns:a="http://schemas.openxmlformats.org/drawingml/2006/main">
            <a:r>
              <a:t/>
            </a:r>
          </a:p>
          <a:p xmlns:a="http://schemas.openxmlformats.org/drawingml/2006/main">
            <a:r>
              <a:t>Source: supplied Vrinda Store Excel workbook, 2022 records. Guided project learning reference: https://www.youtube.com/watch?v=gTK5rNhWJyA. Charts contain editable full-data snapshots. Amount is the sum of source entries across all statuses, not confirmed net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owners are the retail manager for merchandising, operations for non-delivered records and the data owner for definitions. State names include case variants and aliases, so geographic comparisons retain source labels. The dataset source and reuse terms are not established by the workbook. Credit the guided tutorial and avoid claiming client work or realised financial benefits.</a:t>
            </a:r>
          </a:p>
          <a:p xmlns:a="http://schemas.openxmlformats.org/drawingml/2006/main">
            <a:r>
              <a:t/>
            </a:r>
          </a:p>
          <a:p xmlns:a="http://schemas.openxmlformats.org/drawingml/2006/main">
            <a:r>
              <a:t>Source: supplied Vrinda Store Excel workbook, 2022 records. Guided project learning reference: https://www.youtube.com/watch?v=gTK5rNhWJyA. Charts contain editable full-data snapshots. Amount is the sum of source entries across all statuses, not confirmed net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56159370f44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90cb66f77a4f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9418c3d68d49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16b42ed6f741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bc6f24ca7a47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333c5f597542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D282DC-E4B4-4312-AAF4-C6CC6B586F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53CE42-AB34-470F-8487-4A8BEF3689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FBD6A0-F4E5-4C64-9E3F-D3EC976CE0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0842B7-768D-4E29-8405-7A64E8F501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561A94-F708-4098-9B62-F146997BD6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99297E-1083-487F-8511-79D0916AD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DDF502-5D1B-42BC-B04F-046513680A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91E8E6-3E2C-409A-B2E6-374784D690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D98A8B-F8C8-46A2-BBCE-679185DDBE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647E4B-3AE5-478B-9FCF-6580A8CE47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43c8c692534f58" /><Relationship Type="http://schemas.openxmlformats.org/officeDocument/2006/relationships/slideLayout" Target="/ppt/slideLayouts/slideLayout1.xml" Id="Rdd91026d62004efc" /><Relationship Type="http://schemas.openxmlformats.org/officeDocument/2006/relationships/slideLayout" Target="/ppt/slideLayouts/slideLayout2.xml" Id="Rd136f40bd66e48cb" /><Relationship Type="http://schemas.openxmlformats.org/officeDocument/2006/relationships/slideLayout" Target="/ppt/slideLayouts/slideLayout3.xml" Id="R624356bec1094ba5" /><Relationship Type="http://schemas.openxmlformats.org/officeDocument/2006/relationships/slideLayout" Target="/ppt/slideLayouts/slideLayout4.xml" Id="R284c100eb5e24982" /><Relationship Type="http://schemas.openxmlformats.org/officeDocument/2006/relationships/slideLayout" Target="/ppt/slideLayouts/slideLayout5.xml" Id="R7449ab57439c45a3" /><Relationship Type="http://schemas.openxmlformats.org/officeDocument/2006/relationships/slideLayout" Target="/ppt/slideLayouts/slideLayout6.xml" Id="Rac7b792d26fe49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91026d62004efc"/>
    <p:sldLayoutId xmlns:r="http://schemas.openxmlformats.org/officeDocument/2006/relationships" id="2147483650" r:id="Rd136f40bd66e48cb"/>
    <p:sldLayoutId xmlns:r="http://schemas.openxmlformats.org/officeDocument/2006/relationships" id="2147483651" r:id="R624356bec1094ba5"/>
    <p:sldLayoutId xmlns:r="http://schemas.openxmlformats.org/officeDocument/2006/relationships" id="2147483652" r:id="R284c100eb5e24982"/>
    <p:sldLayoutId xmlns:r="http://schemas.openxmlformats.org/officeDocument/2006/relationships" id="2147483653" r:id="R7449ab57439c45a3"/>
    <p:sldLayoutId xmlns:r="http://schemas.openxmlformats.org/officeDocument/2006/relationships" id="2147483654" r:id="Rac7b792d26fe49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bc92e08c3949fa" /><Relationship Type="http://schemas.openxmlformats.org/officeDocument/2006/relationships/notesSlide" Target="/ppt/notesSlides/notesSlide1.xml" Id="R603b8b97ad9644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07e3655e394d2e" /><Relationship Type="http://schemas.openxmlformats.org/officeDocument/2006/relationships/notesSlide" Target="/ppt/notesSlides/notesSlide2.xml" Id="Rc387a8a3ef4741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4c8e3c8fe648c5" /><Relationship Type="http://schemas.openxmlformats.org/officeDocument/2006/relationships/chart" Target="/ppt/slides/charts/chart1.xml" Id="Rd236efc454bb4262" /><Relationship Type="http://schemas.openxmlformats.org/officeDocument/2006/relationships/notesSlide" Target="/ppt/notesSlides/notesSlide3.xml" Id="R9d5eca0a9d6745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1f210b66124426" /><Relationship Type="http://schemas.openxmlformats.org/officeDocument/2006/relationships/notesSlide" Target="/ppt/notesSlides/notesSlide4.xml" Id="R1349489b86994a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fa81f5abf44f8a" /><Relationship Type="http://schemas.openxmlformats.org/officeDocument/2006/relationships/notesSlide" Target="/ppt/notesSlides/notesSlide5.xml" Id="Rf431f4a6253049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C40"/>
                </a:solidFill>
                <a:latin typeface="Arial"/>
                <a:ea typeface="Arial"/>
                <a:cs typeface="Arial"/>
              </a:rPr>
              <a:t>Share of recorded amount</a:t>
            </a:r>
          </a:p>
        </c:rich>
      </c:tx>
      <c:overlay val="0"/>
      <c:txPr>
        <a:bodyPr xmlns:a="http://schemas.openxmlformats.org/drawingml/2006/main" anchorCtr="1"/>
        <a:lstStyle xmlns:a="http://schemas.openxmlformats.org/drawingml/2006/main"/>
        <a:p xmlns:a="http://schemas.openxmlformats.org/drawingml/2006/main">
          <a:pPr>
            <a:defRPr sz="1875" b="1">
              <a:solidFill>
                <a:srgbClr val="172C40"/>
              </a:solidFill>
              <a:latin typeface="Arial"/>
              <a:ea typeface="Arial"/>
              <a:cs typeface="Arial"/>
            </a:defRPr>
          </a:pPr>
        </a:p>
      </c:txPr>
    </c:title>
    <c:plotArea>
      <c:barChart>
        <c:barDir val="col"/>
        <c:grouping val="clustered"/>
        <c:varyColors val="0"/>
        <c:ser>
          <c:idx val="0"/>
          <c:order val="0"/>
          <c:tx>
            <c:v>Amount share</c:v>
          </c:tx>
          <c:spPr>
            <a:solidFill xmlns:a="http://schemas.openxmlformats.org/drawingml/2006/main">
              <a:srgbClr val="087F8C"/>
            </a:solidFill>
          </c:spPr>
          <c:invertIfNegative val="0"/>
          <c:cat>
            <c:strRef>
              <c:f>'Chart Data'!$A$2:$A$8</c:f>
              <c:strCache>
                <c:ptCount val="7"/>
                <c:pt idx="0">
                  <c:v>Amazon</c:v>
                </c:pt>
                <c:pt idx="1">
                  <c:v>Myntra</c:v>
                </c:pt>
                <c:pt idx="2">
                  <c:v>Flipkart</c:v>
                </c:pt>
                <c:pt idx="3">
                  <c:v>Ajio</c:v>
                </c:pt>
                <c:pt idx="4">
                  <c:v>Nalli</c:v>
                </c:pt>
                <c:pt idx="5">
                  <c:v>Meesho</c:v>
                </c:pt>
                <c:pt idx="6">
                  <c:v>Others</c:v>
                </c:pt>
              </c:strCache>
            </c:strRef>
          </c:cat>
          <c:val>
            <c:numRef>
              <c:f>'Chart Data'!$B$2:$B$8</c:f>
              <c:numCache>
                <c:formatCode>0.0%</c:formatCode>
                <c:ptCount val="7"/>
                <c:pt idx="0">
                  <c:v>0.3551095166</c:v>
                </c:pt>
                <c:pt idx="1">
                  <c:v>0.2333515313</c:v>
                </c:pt>
                <c:pt idx="2">
                  <c:v>0.2159623905</c:v>
                </c:pt>
                <c:pt idx="3">
                  <c:v>0.0628732195</c:v>
                </c:pt>
                <c:pt idx="4">
                  <c:v>0.0479463036</c:v>
                </c:pt>
                <c:pt idx="5">
                  <c:v>0.0438038103</c:v>
                </c:pt>
                <c:pt idx="6">
                  <c:v>0.0409532282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72C40"/>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C40"/>
                </a:solidFill>
                <a:latin typeface="Arial"/>
                <a:ea typeface="Arial"/>
                <a:cs typeface="Arial"/>
              </a:defRPr>
            </a:pPr>
          </a:p>
        </c:txPr>
        <c:crossAx val="48672768"/>
      </c:catAx>
      <c:valAx>
        <c:axId val="48672768"/>
        <c:scaling>
          <c:orientation val="minMax"/>
          <c:max val="0.4"/>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16474"/>
                </a:solidFill>
                <a:latin typeface="Arial"/>
                <a:ea typeface="Arial"/>
                <a:cs typeface="Arial"/>
              </a:defRPr>
            </a:pPr>
          </a:p>
        </c:txPr>
        <c:crossAx val="48650112"/>
        <c:crossBetween val="between"/>
        <c:majorUnit val="0.1"/>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241610-2ECF-4EAD-81A6-7FA3C5431137}"/>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0"/>
                </a:solidFill>
                <a:latin typeface="Arial"/>
                <a:ea typeface="Arial"/>
                <a:cs typeface="Arial"/>
              </a:defRPr>
            </a:defPPr>
            <a:lvl1pPr>
              <a:defRPr sz="3150" b="1">
                <a:solidFill>
                  <a:srgbClr val="172C40"/>
                </a:solidFill>
                <a:latin typeface="Arial"/>
                <a:ea typeface="Arial"/>
                <a:cs typeface="Arial"/>
              </a:defRPr>
            </a:lvl1pPr>
            <a:lvl2pPr>
              <a:defRPr sz="3150" b="1">
                <a:solidFill>
                  <a:srgbClr val="172C40"/>
                </a:solidFill>
                <a:latin typeface="Arial"/>
                <a:ea typeface="Arial"/>
                <a:cs typeface="Arial"/>
              </a:defRPr>
            </a:lvl2pPr>
            <a:lvl3pPr>
              <a:defRPr sz="3150" b="1">
                <a:solidFill>
                  <a:srgbClr val="172C40"/>
                </a:solidFill>
                <a:latin typeface="Arial"/>
                <a:ea typeface="Arial"/>
                <a:cs typeface="Arial"/>
              </a:defRPr>
            </a:lvl3pPr>
            <a:lvl4pPr>
              <a:defRPr sz="3150" b="1">
                <a:solidFill>
                  <a:srgbClr val="172C40"/>
                </a:solidFill>
                <a:latin typeface="Arial"/>
                <a:ea typeface="Arial"/>
                <a:cs typeface="Arial"/>
              </a:defRPr>
            </a:lvl4pPr>
            <a:lvl5pPr>
              <a:defRPr sz="3150" b="1">
                <a:solidFill>
                  <a:srgbClr val="172C40"/>
                </a:solidFill>
                <a:latin typeface="Arial"/>
                <a:ea typeface="Arial"/>
                <a:cs typeface="Arial"/>
              </a:defRPr>
            </a:lvl5pPr>
            <a:lvl6pPr>
              <a:defRPr sz="3150" b="1">
                <a:solidFill>
                  <a:srgbClr val="172C40"/>
                </a:solidFill>
                <a:latin typeface="Arial"/>
                <a:ea typeface="Arial"/>
                <a:cs typeface="Arial"/>
              </a:defRPr>
            </a:lvl6pPr>
            <a:lvl7pPr>
              <a:defRPr sz="3150" b="1">
                <a:solidFill>
                  <a:srgbClr val="172C40"/>
                </a:solidFill>
                <a:latin typeface="Arial"/>
                <a:ea typeface="Arial"/>
                <a:cs typeface="Arial"/>
              </a:defRPr>
            </a:lvl7pPr>
            <a:lvl8pPr>
              <a:defRPr sz="3150" b="1">
                <a:solidFill>
                  <a:srgbClr val="172C40"/>
                </a:solidFill>
                <a:latin typeface="Arial"/>
                <a:ea typeface="Arial"/>
                <a:cs typeface="Arial"/>
              </a:defRPr>
            </a:lvl8pPr>
            <a:lvl9pPr>
              <a:defRPr sz="3150" b="1">
                <a:solidFill>
                  <a:srgbClr val="172C40"/>
                </a:solidFill>
                <a:latin typeface="Arial"/>
                <a:ea typeface="Arial"/>
                <a:cs typeface="Arial"/>
              </a:defRPr>
            </a:lvl9pPr>
          </a:lstStyle>
          <a:p xmlns:a="http://schemas.openxmlformats.org/drawingml/2006/main">
            <a:pPr>
              <a:defRPr sz="3150" b="1">
                <a:solidFill>
                  <a:srgbClr val="172C40"/>
                </a:solidFill>
                <a:latin typeface="Arial"/>
                <a:ea typeface="Arial"/>
                <a:cs typeface="Arial"/>
              </a:defRPr>
            </a:pPr>
            <a:r>
              <a:rPr sz="3150" b="1">
                <a:solidFill>
                  <a:srgbClr val="172C40"/>
                </a:solidFill>
                <a:latin typeface="Arial"/>
                <a:ea typeface="Arial"/>
                <a:cs typeface="Arial"/>
              </a:rPr>
              <a:t>Vrinda Store Retail Analysis</a:t>
            </a:r>
          </a:p>
        </p:txBody>
      </p:sp>
      <p:sp>
        <p:nvSpPr>
          <p:cNvPr id="2" name="">
            <a:extLst xmlns:a="http://schemas.openxmlformats.org/drawingml/2006/main">
              <a:ext uri="{FF2B5EF4-FFF2-40B4-BE49-F238E27FC236}">
                <a16:creationId xmlns:a16="http://schemas.microsoft.com/office/drawing/2014/main" id="{956B896E-4AB8-48F3-81DF-DD1017C1488D}"/>
              </a:ext>
            </a:extLst>
          </p:cNvPr>
          <p:cNvSpPr>
            <a:spLocks xmlns:a="http://schemas.openxmlformats.org/drawingml/2006/main" noGrp="1"/>
          </p:cNvSpPr>
          <p:nvPr/>
        </p:nvSpPr>
        <p:spPr>
          <a:xfrm xmlns:a="http://schemas.openxmlformats.org/drawingml/2006/main">
            <a:off x="5715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Vrinda Store analysis</a:t>
            </a:r>
          </a:p>
        </p:txBody>
      </p:sp>
      <p:sp>
        <p:nvSpPr>
          <p:cNvPr id="3" name="">
            <a:extLst xmlns:a="http://schemas.openxmlformats.org/drawingml/2006/main">
              <a:ext uri="{FF2B5EF4-FFF2-40B4-BE49-F238E27FC236}">
                <a16:creationId xmlns:a16="http://schemas.microsoft.com/office/drawing/2014/main" id="{AF150675-4B06-4E5D-88C9-A34093B1D30C}"/>
              </a:ext>
            </a:extLst>
          </p:cNvPr>
          <p:cNvSpPr>
            <a:spLocks xmlns:a="http://schemas.openxmlformats.org/drawingml/2006/main" noGrp="1"/>
          </p:cNvSpPr>
          <p:nvPr/>
        </p:nvSpPr>
        <p:spPr>
          <a:xfrm xmlns:a="http://schemas.openxmlformats.org/drawingml/2006/main">
            <a:off x="11287125" y="64960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50B64BE-E709-4A38-B1F3-A08BBDE7DB18}"/>
              </a:ext>
            </a:extLst>
          </p:cNvPr>
          <p:cNvSpPr>
            <a:spLocks xmlns:a="http://schemas.openxmlformats.org/drawingml/2006/main" noGrp="1"/>
          </p:cNvSpPr>
          <p:nvPr/>
        </p:nvSpPr>
        <p:spPr>
          <a:xfrm xmlns:a="http://schemas.openxmlformats.org/drawingml/2006/main">
            <a:off x="571500" y="15716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87F8C"/>
                </a:solidFill>
                <a:latin typeface="Arial"/>
                <a:ea typeface="Arial"/>
                <a:cs typeface="Arial"/>
              </a:defRPr>
            </a:defPPr>
            <a:lvl1pPr>
              <a:defRPr sz="2400" b="0">
                <a:solidFill>
                  <a:srgbClr val="087F8C"/>
                </a:solidFill>
                <a:latin typeface="Arial"/>
                <a:ea typeface="Arial"/>
                <a:cs typeface="Arial"/>
              </a:defRPr>
            </a:lvl1pPr>
            <a:lvl2pPr>
              <a:defRPr sz="2400" b="0">
                <a:solidFill>
                  <a:srgbClr val="087F8C"/>
                </a:solidFill>
                <a:latin typeface="Arial"/>
                <a:ea typeface="Arial"/>
                <a:cs typeface="Arial"/>
              </a:defRPr>
            </a:lvl2pPr>
            <a:lvl3pPr>
              <a:defRPr sz="2400" b="0">
                <a:solidFill>
                  <a:srgbClr val="087F8C"/>
                </a:solidFill>
                <a:latin typeface="Arial"/>
                <a:ea typeface="Arial"/>
                <a:cs typeface="Arial"/>
              </a:defRPr>
            </a:lvl3pPr>
            <a:lvl4pPr>
              <a:defRPr sz="2400" b="0">
                <a:solidFill>
                  <a:srgbClr val="087F8C"/>
                </a:solidFill>
                <a:latin typeface="Arial"/>
                <a:ea typeface="Arial"/>
                <a:cs typeface="Arial"/>
              </a:defRPr>
            </a:lvl4pPr>
            <a:lvl5pPr>
              <a:defRPr sz="2400" b="0">
                <a:solidFill>
                  <a:srgbClr val="087F8C"/>
                </a:solidFill>
                <a:latin typeface="Arial"/>
                <a:ea typeface="Arial"/>
                <a:cs typeface="Arial"/>
              </a:defRPr>
            </a:lvl5pPr>
            <a:lvl6pPr>
              <a:defRPr sz="2400" b="0">
                <a:solidFill>
                  <a:srgbClr val="087F8C"/>
                </a:solidFill>
                <a:latin typeface="Arial"/>
                <a:ea typeface="Arial"/>
                <a:cs typeface="Arial"/>
              </a:defRPr>
            </a:lvl6pPr>
            <a:lvl7pPr>
              <a:defRPr sz="2400" b="0">
                <a:solidFill>
                  <a:srgbClr val="087F8C"/>
                </a:solidFill>
                <a:latin typeface="Arial"/>
                <a:ea typeface="Arial"/>
                <a:cs typeface="Arial"/>
              </a:defRPr>
            </a:lvl7pPr>
            <a:lvl8pPr>
              <a:defRPr sz="2400" b="0">
                <a:solidFill>
                  <a:srgbClr val="087F8C"/>
                </a:solidFill>
                <a:latin typeface="Arial"/>
                <a:ea typeface="Arial"/>
                <a:cs typeface="Arial"/>
              </a:defRPr>
            </a:lvl8pPr>
            <a:lvl9pPr>
              <a:defRPr sz="2400" b="0">
                <a:solidFill>
                  <a:srgbClr val="087F8C"/>
                </a:solidFill>
                <a:latin typeface="Arial"/>
                <a:ea typeface="Arial"/>
                <a:cs typeface="Arial"/>
              </a:defRPr>
            </a:lvl9pPr>
          </a:lstStyle>
          <a:p xmlns:a="http://schemas.openxmlformats.org/drawingml/2006/main">
            <a:pPr>
              <a:defRPr sz="2400" b="0">
                <a:solidFill>
                  <a:srgbClr val="087F8C"/>
                </a:solidFill>
                <a:latin typeface="Arial"/>
                <a:ea typeface="Arial"/>
                <a:cs typeface="Arial"/>
              </a:defRPr>
            </a:pPr>
            <a:r>
              <a:rPr sz="2400" b="0">
                <a:solidFill>
                  <a:srgbClr val="087F8C"/>
                </a:solidFill>
                <a:latin typeface="Arial"/>
                <a:ea typeface="Arial"/>
                <a:cs typeface="Arial"/>
              </a:rPr>
              <a:t>Recorded activity across channels and customer groups</a:t>
            </a:r>
          </a:p>
        </p:txBody>
      </p:sp>
      <p:sp>
        <p:nvSpPr>
          <p:cNvPr id="5" name="">
            <a:extLst xmlns:a="http://schemas.openxmlformats.org/drawingml/2006/main">
              <a:ext uri="{FF2B5EF4-FFF2-40B4-BE49-F238E27FC236}">
                <a16:creationId xmlns:a16="http://schemas.microsoft.com/office/drawing/2014/main" id="{F35BA602-5D4D-4713-AE92-9AA73E2B05EE}"/>
              </a:ext>
            </a:extLst>
          </p:cNvPr>
          <p:cNvSpPr>
            <a:spLocks xmlns:a="http://schemas.openxmlformats.org/drawingml/2006/main" noGrp="1"/>
          </p:cNvSpPr>
          <p:nvPr/>
        </p:nvSpPr>
        <p:spPr>
          <a:xfrm xmlns:a="http://schemas.openxmlformats.org/drawingml/2006/main">
            <a:off x="571500" y="28575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2C40"/>
                </a:solidFill>
                <a:latin typeface="Arial"/>
                <a:ea typeface="Arial"/>
                <a:cs typeface="Arial"/>
              </a:defRPr>
            </a:defPPr>
            <a:lvl1pPr>
              <a:defRPr sz="2925" b="1">
                <a:solidFill>
                  <a:srgbClr val="172C40"/>
                </a:solidFill>
                <a:latin typeface="Arial"/>
                <a:ea typeface="Arial"/>
                <a:cs typeface="Arial"/>
              </a:defRPr>
            </a:lvl1pPr>
            <a:lvl2pPr>
              <a:defRPr sz="2925" b="1">
                <a:solidFill>
                  <a:srgbClr val="172C40"/>
                </a:solidFill>
                <a:latin typeface="Arial"/>
                <a:ea typeface="Arial"/>
                <a:cs typeface="Arial"/>
              </a:defRPr>
            </a:lvl2pPr>
            <a:lvl3pPr>
              <a:defRPr sz="2925" b="1">
                <a:solidFill>
                  <a:srgbClr val="172C40"/>
                </a:solidFill>
                <a:latin typeface="Arial"/>
                <a:ea typeface="Arial"/>
                <a:cs typeface="Arial"/>
              </a:defRPr>
            </a:lvl3pPr>
            <a:lvl4pPr>
              <a:defRPr sz="2925" b="1">
                <a:solidFill>
                  <a:srgbClr val="172C40"/>
                </a:solidFill>
                <a:latin typeface="Arial"/>
                <a:ea typeface="Arial"/>
                <a:cs typeface="Arial"/>
              </a:defRPr>
            </a:lvl4pPr>
            <a:lvl5pPr>
              <a:defRPr sz="2925" b="1">
                <a:solidFill>
                  <a:srgbClr val="172C40"/>
                </a:solidFill>
                <a:latin typeface="Arial"/>
                <a:ea typeface="Arial"/>
                <a:cs typeface="Arial"/>
              </a:defRPr>
            </a:lvl5pPr>
            <a:lvl6pPr>
              <a:defRPr sz="2925" b="1">
                <a:solidFill>
                  <a:srgbClr val="172C40"/>
                </a:solidFill>
                <a:latin typeface="Arial"/>
                <a:ea typeface="Arial"/>
                <a:cs typeface="Arial"/>
              </a:defRPr>
            </a:lvl6pPr>
            <a:lvl7pPr>
              <a:defRPr sz="2925" b="1">
                <a:solidFill>
                  <a:srgbClr val="172C40"/>
                </a:solidFill>
                <a:latin typeface="Arial"/>
                <a:ea typeface="Arial"/>
                <a:cs typeface="Arial"/>
              </a:defRPr>
            </a:lvl7pPr>
            <a:lvl8pPr>
              <a:defRPr sz="2925" b="1">
                <a:solidFill>
                  <a:srgbClr val="172C40"/>
                </a:solidFill>
                <a:latin typeface="Arial"/>
                <a:ea typeface="Arial"/>
                <a:cs typeface="Arial"/>
              </a:defRPr>
            </a:lvl8pPr>
            <a:lvl9pPr>
              <a:defRPr sz="2925" b="1">
                <a:solidFill>
                  <a:srgbClr val="172C40"/>
                </a:solidFill>
                <a:latin typeface="Arial"/>
                <a:ea typeface="Arial"/>
                <a:cs typeface="Arial"/>
              </a:defRPr>
            </a:lvl9pPr>
          </a:lstStyle>
          <a:p xmlns:a="http://schemas.openxmlformats.org/drawingml/2006/main">
            <a:pPr>
              <a:defRPr sz="2925" b="1">
                <a:solidFill>
                  <a:srgbClr val="172C40"/>
                </a:solidFill>
                <a:latin typeface="Arial"/>
                <a:ea typeface="Arial"/>
                <a:cs typeface="Arial"/>
              </a:defRPr>
            </a:pPr>
            <a:r>
              <a:rPr sz="2925" b="1">
                <a:solidFill>
                  <a:srgbClr val="172C40"/>
                </a:solidFill>
                <a:latin typeface="Arial"/>
                <a:ea typeface="Arial"/>
                <a:cs typeface="Arial"/>
              </a:rPr>
              <a:t>Which patterns deserve further investigation</a:t>
            </a:r>
          </a:p>
          <a:p xmlns:a="http://schemas.openxmlformats.org/drawingml/2006/main">
            <a:pPr>
              <a:defRPr sz="2925" b="1">
                <a:solidFill>
                  <a:srgbClr val="172C40"/>
                </a:solidFill>
                <a:latin typeface="Arial"/>
                <a:ea typeface="Arial"/>
                <a:cs typeface="Arial"/>
              </a:defRPr>
            </a:pPr>
            <a:r>
              <a:rPr sz="2925" b="1">
                <a:solidFill>
                  <a:srgbClr val="172C40"/>
                </a:solidFill>
                <a:latin typeface="Arial"/>
                <a:ea typeface="Arial"/>
                <a:cs typeface="Arial"/>
              </a:rPr>
              <a:t>before changing retail plans?</a:t>
            </a:r>
          </a:p>
        </p:txBody>
      </p:sp>
      <p:sp>
        <p:nvSpPr>
          <p:cNvPr id="6" name="">
            <a:extLst xmlns:a="http://schemas.openxmlformats.org/drawingml/2006/main">
              <a:ext uri="{FF2B5EF4-FFF2-40B4-BE49-F238E27FC236}">
                <a16:creationId xmlns:a16="http://schemas.microsoft.com/office/drawing/2014/main" id="{DF0ACC23-D567-4B7D-A946-AB7F4575F0ED}"/>
              </a:ext>
            </a:extLst>
          </p:cNvPr>
          <p:cNvSpPr>
            <a:spLocks xmlns:a="http://schemas.openxmlformats.org/drawingml/2006/main" noGrp="1"/>
          </p:cNvSpPr>
          <p:nvPr/>
        </p:nvSpPr>
        <p:spPr>
          <a:xfrm xmlns:a="http://schemas.openxmlformats.org/drawingml/2006/main">
            <a:off x="571500" y="48101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C40"/>
                </a:solidFill>
                <a:latin typeface="Arial"/>
                <a:ea typeface="Arial"/>
                <a:cs typeface="Arial"/>
              </a:defRPr>
            </a:defPPr>
            <a:lvl1pPr>
              <a:defRPr sz="2100" b="0">
                <a:solidFill>
                  <a:srgbClr val="172C40"/>
                </a:solidFill>
                <a:latin typeface="Arial"/>
                <a:ea typeface="Arial"/>
                <a:cs typeface="Arial"/>
              </a:defRPr>
            </a:lvl1pPr>
            <a:lvl2pPr>
              <a:defRPr sz="2100" b="0">
                <a:solidFill>
                  <a:srgbClr val="172C40"/>
                </a:solidFill>
                <a:latin typeface="Arial"/>
                <a:ea typeface="Arial"/>
                <a:cs typeface="Arial"/>
              </a:defRPr>
            </a:lvl2pPr>
            <a:lvl3pPr>
              <a:defRPr sz="2100" b="0">
                <a:solidFill>
                  <a:srgbClr val="172C40"/>
                </a:solidFill>
                <a:latin typeface="Arial"/>
                <a:ea typeface="Arial"/>
                <a:cs typeface="Arial"/>
              </a:defRPr>
            </a:lvl3pPr>
            <a:lvl4pPr>
              <a:defRPr sz="2100" b="0">
                <a:solidFill>
                  <a:srgbClr val="172C40"/>
                </a:solidFill>
                <a:latin typeface="Arial"/>
                <a:ea typeface="Arial"/>
                <a:cs typeface="Arial"/>
              </a:defRPr>
            </a:lvl4pPr>
            <a:lvl5pPr>
              <a:defRPr sz="2100" b="0">
                <a:solidFill>
                  <a:srgbClr val="172C40"/>
                </a:solidFill>
                <a:latin typeface="Arial"/>
                <a:ea typeface="Arial"/>
                <a:cs typeface="Arial"/>
              </a:defRPr>
            </a:lvl5pPr>
            <a:lvl6pPr>
              <a:defRPr sz="2100" b="0">
                <a:solidFill>
                  <a:srgbClr val="172C40"/>
                </a:solidFill>
                <a:latin typeface="Arial"/>
                <a:ea typeface="Arial"/>
                <a:cs typeface="Arial"/>
              </a:defRPr>
            </a:lvl6pPr>
            <a:lvl7pPr>
              <a:defRPr sz="2100" b="0">
                <a:solidFill>
                  <a:srgbClr val="172C40"/>
                </a:solidFill>
                <a:latin typeface="Arial"/>
                <a:ea typeface="Arial"/>
                <a:cs typeface="Arial"/>
              </a:defRPr>
            </a:lvl7pPr>
            <a:lvl8pPr>
              <a:defRPr sz="2100" b="0">
                <a:solidFill>
                  <a:srgbClr val="172C40"/>
                </a:solidFill>
                <a:latin typeface="Arial"/>
                <a:ea typeface="Arial"/>
                <a:cs typeface="Arial"/>
              </a:defRPr>
            </a:lvl8pPr>
            <a:lvl9pPr>
              <a:defRPr sz="2100" b="0">
                <a:solidFill>
                  <a:srgbClr val="172C40"/>
                </a:solidFill>
                <a:latin typeface="Arial"/>
                <a:ea typeface="Arial"/>
                <a:cs typeface="Arial"/>
              </a:defRPr>
            </a:lvl9pPr>
          </a:lstStyle>
          <a:p xmlns:a="http://schemas.openxmlformats.org/drawingml/2006/main">
            <a:pPr>
              <a:defRPr sz="2100" b="0">
                <a:solidFill>
                  <a:srgbClr val="172C40"/>
                </a:solidFill>
                <a:latin typeface="Arial"/>
                <a:ea typeface="Arial"/>
                <a:cs typeface="Arial"/>
              </a:defRPr>
            </a:pPr>
            <a:r>
              <a:rPr sz="2100" b="0">
                <a:solidFill>
                  <a:srgbClr val="172C40"/>
                </a:solidFill>
                <a:latin typeface="Arial"/>
                <a:ea typeface="Arial"/>
                <a:cs typeface="Arial"/>
              </a:rPr>
              <a:t>2022 historical data</a:t>
            </a:r>
          </a:p>
        </p:txBody>
      </p:sp>
      <p:sp>
        <p:nvSpPr>
          <p:cNvPr id="7" name="">
            <a:extLst xmlns:a="http://schemas.openxmlformats.org/drawingml/2006/main">
              <a:ext uri="{FF2B5EF4-FFF2-40B4-BE49-F238E27FC236}">
                <a16:creationId xmlns:a16="http://schemas.microsoft.com/office/drawing/2014/main" id="{821697C6-B530-44ED-B431-3DC407FBA8AF}"/>
              </a:ext>
            </a:extLst>
          </p:cNvPr>
          <p:cNvSpPr>
            <a:spLocks xmlns:a="http://schemas.openxmlformats.org/drawingml/2006/main" noGrp="1"/>
          </p:cNvSpPr>
          <p:nvPr/>
        </p:nvSpPr>
        <p:spPr>
          <a:xfrm xmlns:a="http://schemas.openxmlformats.org/drawingml/2006/main">
            <a:off x="571500" y="53340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474"/>
                </a:solidFill>
                <a:latin typeface="Arial"/>
                <a:ea typeface="Arial"/>
                <a:cs typeface="Arial"/>
              </a:defRPr>
            </a:defPPr>
            <a:lvl1pPr>
              <a:defRPr sz="1725" b="0">
                <a:solidFill>
                  <a:srgbClr val="516474"/>
                </a:solidFill>
                <a:latin typeface="Arial"/>
                <a:ea typeface="Arial"/>
                <a:cs typeface="Arial"/>
              </a:defRPr>
            </a:lvl1pPr>
            <a:lvl2pPr>
              <a:defRPr sz="1725" b="0">
                <a:solidFill>
                  <a:srgbClr val="516474"/>
                </a:solidFill>
                <a:latin typeface="Arial"/>
                <a:ea typeface="Arial"/>
                <a:cs typeface="Arial"/>
              </a:defRPr>
            </a:lvl2pPr>
            <a:lvl3pPr>
              <a:defRPr sz="1725" b="0">
                <a:solidFill>
                  <a:srgbClr val="516474"/>
                </a:solidFill>
                <a:latin typeface="Arial"/>
                <a:ea typeface="Arial"/>
                <a:cs typeface="Arial"/>
              </a:defRPr>
            </a:lvl3pPr>
            <a:lvl4pPr>
              <a:defRPr sz="1725" b="0">
                <a:solidFill>
                  <a:srgbClr val="516474"/>
                </a:solidFill>
                <a:latin typeface="Arial"/>
                <a:ea typeface="Arial"/>
                <a:cs typeface="Arial"/>
              </a:defRPr>
            </a:lvl4pPr>
            <a:lvl5pPr>
              <a:defRPr sz="1725" b="0">
                <a:solidFill>
                  <a:srgbClr val="516474"/>
                </a:solidFill>
                <a:latin typeface="Arial"/>
                <a:ea typeface="Arial"/>
                <a:cs typeface="Arial"/>
              </a:defRPr>
            </a:lvl5pPr>
            <a:lvl6pPr>
              <a:defRPr sz="1725" b="0">
                <a:solidFill>
                  <a:srgbClr val="516474"/>
                </a:solidFill>
                <a:latin typeface="Arial"/>
                <a:ea typeface="Arial"/>
                <a:cs typeface="Arial"/>
              </a:defRPr>
            </a:lvl6pPr>
            <a:lvl7pPr>
              <a:defRPr sz="1725" b="0">
                <a:solidFill>
                  <a:srgbClr val="516474"/>
                </a:solidFill>
                <a:latin typeface="Arial"/>
                <a:ea typeface="Arial"/>
                <a:cs typeface="Arial"/>
              </a:defRPr>
            </a:lvl7pPr>
            <a:lvl8pPr>
              <a:defRPr sz="1725" b="0">
                <a:solidFill>
                  <a:srgbClr val="516474"/>
                </a:solidFill>
                <a:latin typeface="Arial"/>
                <a:ea typeface="Arial"/>
                <a:cs typeface="Arial"/>
              </a:defRPr>
            </a:lvl8pPr>
            <a:lvl9pPr>
              <a:defRPr sz="1725" b="0">
                <a:solidFill>
                  <a:srgbClr val="516474"/>
                </a:solidFill>
                <a:latin typeface="Arial"/>
                <a:ea typeface="Arial"/>
                <a:cs typeface="Arial"/>
              </a:defRPr>
            </a:lvl9pPr>
          </a:lstStyle>
          <a:p xmlns:a="http://schemas.openxmlformats.org/drawingml/2006/main">
            <a:pPr>
              <a:defRPr sz="1725" b="0">
                <a:solidFill>
                  <a:srgbClr val="516474"/>
                </a:solidFill>
                <a:latin typeface="Arial"/>
                <a:ea typeface="Arial"/>
                <a:cs typeface="Arial"/>
              </a:defRPr>
            </a:pPr>
            <a:r>
              <a:rPr sz="1725" b="0">
                <a:solidFill>
                  <a:srgbClr val="516474"/>
                </a:solidFill>
                <a:latin typeface="Arial"/>
                <a:ea typeface="Arial"/>
                <a:cs typeface="Arial"/>
              </a:rPr>
              <a:t>Guided Excel portfolio project</a:t>
            </a:r>
          </a:p>
        </p:txBody>
      </p:sp>
    </p:spTree>
    <p:extLst>
      <p:ext uri="{BB962C8B-B14F-4D97-AF65-F5344CB8AC3E}">
        <p14:creationId xmlns:p14="http://schemas.microsoft.com/office/powerpoint/2010/main" val="12578913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A77F40-F3A4-45E5-BBCA-D4AF5B35AAD6}"/>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0"/>
                </a:solidFill>
                <a:latin typeface="Arial"/>
                <a:ea typeface="Arial"/>
                <a:cs typeface="Arial"/>
              </a:defRPr>
            </a:defPPr>
            <a:lvl1pPr>
              <a:defRPr sz="3150" b="1">
                <a:solidFill>
                  <a:srgbClr val="172C40"/>
                </a:solidFill>
                <a:latin typeface="Arial"/>
                <a:ea typeface="Arial"/>
                <a:cs typeface="Arial"/>
              </a:defRPr>
            </a:lvl1pPr>
            <a:lvl2pPr>
              <a:defRPr sz="3150" b="1">
                <a:solidFill>
                  <a:srgbClr val="172C40"/>
                </a:solidFill>
                <a:latin typeface="Arial"/>
                <a:ea typeface="Arial"/>
                <a:cs typeface="Arial"/>
              </a:defRPr>
            </a:lvl2pPr>
            <a:lvl3pPr>
              <a:defRPr sz="3150" b="1">
                <a:solidFill>
                  <a:srgbClr val="172C40"/>
                </a:solidFill>
                <a:latin typeface="Arial"/>
                <a:ea typeface="Arial"/>
                <a:cs typeface="Arial"/>
              </a:defRPr>
            </a:lvl3pPr>
            <a:lvl4pPr>
              <a:defRPr sz="3150" b="1">
                <a:solidFill>
                  <a:srgbClr val="172C40"/>
                </a:solidFill>
                <a:latin typeface="Arial"/>
                <a:ea typeface="Arial"/>
                <a:cs typeface="Arial"/>
              </a:defRPr>
            </a:lvl4pPr>
            <a:lvl5pPr>
              <a:defRPr sz="3150" b="1">
                <a:solidFill>
                  <a:srgbClr val="172C40"/>
                </a:solidFill>
                <a:latin typeface="Arial"/>
                <a:ea typeface="Arial"/>
                <a:cs typeface="Arial"/>
              </a:defRPr>
            </a:lvl5pPr>
            <a:lvl6pPr>
              <a:defRPr sz="3150" b="1">
                <a:solidFill>
                  <a:srgbClr val="172C40"/>
                </a:solidFill>
                <a:latin typeface="Arial"/>
                <a:ea typeface="Arial"/>
                <a:cs typeface="Arial"/>
              </a:defRPr>
            </a:lvl6pPr>
            <a:lvl7pPr>
              <a:defRPr sz="3150" b="1">
                <a:solidFill>
                  <a:srgbClr val="172C40"/>
                </a:solidFill>
                <a:latin typeface="Arial"/>
                <a:ea typeface="Arial"/>
                <a:cs typeface="Arial"/>
              </a:defRPr>
            </a:lvl7pPr>
            <a:lvl8pPr>
              <a:defRPr sz="3150" b="1">
                <a:solidFill>
                  <a:srgbClr val="172C40"/>
                </a:solidFill>
                <a:latin typeface="Arial"/>
                <a:ea typeface="Arial"/>
                <a:cs typeface="Arial"/>
              </a:defRPr>
            </a:lvl8pPr>
            <a:lvl9pPr>
              <a:defRPr sz="3150" b="1">
                <a:solidFill>
                  <a:srgbClr val="172C40"/>
                </a:solidFill>
                <a:latin typeface="Arial"/>
                <a:ea typeface="Arial"/>
                <a:cs typeface="Arial"/>
              </a:defRPr>
            </a:lvl9pPr>
          </a:lstStyle>
          <a:p xmlns:a="http://schemas.openxmlformats.org/drawingml/2006/main">
            <a:pPr>
              <a:defRPr sz="3150" b="1">
                <a:solidFill>
                  <a:srgbClr val="172C40"/>
                </a:solidFill>
                <a:latin typeface="Arial"/>
                <a:ea typeface="Arial"/>
                <a:cs typeface="Arial"/>
              </a:defRPr>
            </a:pPr>
            <a:r>
              <a:rPr sz="3150" b="1">
                <a:solidFill>
                  <a:srgbClr val="172C40"/>
                </a:solidFill>
                <a:latin typeface="Arial"/>
                <a:ea typeface="Arial"/>
                <a:cs typeface="Arial"/>
              </a:rPr>
              <a:t>Data scope and metric checks</a:t>
            </a:r>
          </a:p>
        </p:txBody>
      </p:sp>
      <p:sp>
        <p:nvSpPr>
          <p:cNvPr id="2" name="">
            <a:extLst xmlns:a="http://schemas.openxmlformats.org/drawingml/2006/main">
              <a:ext uri="{FF2B5EF4-FFF2-40B4-BE49-F238E27FC236}">
                <a16:creationId xmlns:a16="http://schemas.microsoft.com/office/drawing/2014/main" id="{97BECF67-26ED-46F8-A20D-70CF64B07710}"/>
              </a:ext>
            </a:extLst>
          </p:cNvPr>
          <p:cNvSpPr>
            <a:spLocks xmlns:a="http://schemas.openxmlformats.org/drawingml/2006/main" noGrp="1"/>
          </p:cNvSpPr>
          <p:nvPr/>
        </p:nvSpPr>
        <p:spPr>
          <a:xfrm xmlns:a="http://schemas.openxmlformats.org/drawingml/2006/main">
            <a:off x="5715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Vrinda Store analysis</a:t>
            </a:r>
          </a:p>
        </p:txBody>
      </p:sp>
      <p:sp>
        <p:nvSpPr>
          <p:cNvPr id="3" name="">
            <a:extLst xmlns:a="http://schemas.openxmlformats.org/drawingml/2006/main">
              <a:ext uri="{FF2B5EF4-FFF2-40B4-BE49-F238E27FC236}">
                <a16:creationId xmlns:a16="http://schemas.microsoft.com/office/drawing/2014/main" id="{82D22FE7-2A92-41B5-8C76-8BABB2432191}"/>
              </a:ext>
            </a:extLst>
          </p:cNvPr>
          <p:cNvSpPr>
            <a:spLocks xmlns:a="http://schemas.openxmlformats.org/drawingml/2006/main" noGrp="1"/>
          </p:cNvSpPr>
          <p:nvPr/>
        </p:nvSpPr>
        <p:spPr>
          <a:xfrm xmlns:a="http://schemas.openxmlformats.org/drawingml/2006/main">
            <a:off x="11287125" y="64960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93B6F5B1-A2E9-496A-8844-03B6328B0D01}"/>
              </a:ext>
            </a:extLst>
          </p:cNvPr>
          <p:cNvGraphicFramePr/>
          <p:nvPr/>
        </p:nvGraphicFramePr>
        <p:xfrm>
          <a:off xmlns:a="http://schemas.openxmlformats.org/drawingml/2006/main" x="571500" y="1428750"/>
          <a:ext xmlns:a="http://schemas.openxmlformats.org/drawingml/2006/main" cx="11049000" cy="1143000"/>
        </p:xfrm>
        <a:graphic xmlns:a="http://schemas.openxmlformats.org/drawingml/2006/main">
          <a:graphicData uri="http://schemas.openxmlformats.org/drawingml/2006/table">
            <a:tbl>
              <a:tblPr/>
              <a:tblGrid>
                <a:gridCol w="3683000"/>
                <a:gridCol w="3683000"/>
                <a:gridCol w="3683000"/>
              </a:tblGrid>
              <a:tr h="571500">
                <a:tc>
                  <a:txBody>
                    <a:bodyPr/>
                    <a:lstStyle/>
                    <a:p>
                      <a:r>
                        <a:rPr sz="2025" b="1">
                          <a:solidFill>
                            <a:srgbClr val="172C40"/>
                          </a:solidFill>
                          <a:latin typeface="Arial"/>
                          <a:ea typeface="Arial"/>
                          <a:cs typeface="Arial"/>
                        </a:rPr>
                        <a:t>Records</a:t>
                      </a:r>
                    </a:p>
                  </a:txBody>
                  <a:tcPr marL="91440" marR="91440" marT="45720" marB="45720">
                    <a:lnL w="9525">
                      <a:solidFill>
                        <a:srgbClr val="D5DEE5"/>
                      </a:solidFill>
                    </a:lnL>
                    <a:lnR w="9525">
                      <a:solidFill>
                        <a:srgbClr val="D5DEE5"/>
                      </a:solidFill>
                    </a:lnR>
                    <a:lnT w="9525">
                      <a:solidFill>
                        <a:srgbClr val="D5DEE5"/>
                      </a:solidFill>
                    </a:lnT>
                    <a:lnB w="9525">
                      <a:solidFill>
                        <a:srgbClr val="D5DEE5"/>
                      </a:solidFill>
                    </a:lnB>
                    <a:solidFill>
                      <a:srgbClr val="E6EEF2"/>
                    </a:solidFill>
                  </a:tcPr>
                </a:tc>
                <a:tc>
                  <a:txBody>
                    <a:bodyPr/>
                    <a:lstStyle/>
                    <a:p>
                      <a:r>
                        <a:rPr sz="2025" b="1">
                          <a:solidFill>
                            <a:srgbClr val="172C40"/>
                          </a:solidFill>
                          <a:latin typeface="Arial"/>
                          <a:ea typeface="Arial"/>
                          <a:cs typeface="Arial"/>
                        </a:rPr>
                        <a:t>Distinct Order IDs</a:t>
                      </a:r>
                    </a:p>
                  </a:txBody>
                  <a:tcPr marL="91440" marR="91440" marT="45720" marB="45720">
                    <a:lnR w="9525">
                      <a:solidFill>
                        <a:srgbClr val="D5DEE5"/>
                      </a:solidFill>
                    </a:lnR>
                    <a:lnT w="9525">
                      <a:solidFill>
                        <a:srgbClr val="D5DEE5"/>
                      </a:solidFill>
                    </a:lnT>
                    <a:lnB w="9525">
                      <a:solidFill>
                        <a:srgbClr val="D5DEE5"/>
                      </a:solidFill>
                    </a:lnB>
                    <a:solidFill>
                      <a:srgbClr val="E6EEF2"/>
                    </a:solidFill>
                  </a:tcPr>
                </a:tc>
                <a:tc>
                  <a:txBody>
                    <a:bodyPr/>
                    <a:lstStyle/>
                    <a:p>
                      <a:r>
                        <a:rPr sz="2025" b="1">
                          <a:solidFill>
                            <a:srgbClr val="172C40"/>
                          </a:solidFill>
                          <a:latin typeface="Arial"/>
                          <a:ea typeface="Arial"/>
                          <a:cs typeface="Arial"/>
                        </a:rPr>
                        <a:t>Recorded amount</a:t>
                      </a:r>
                    </a:p>
                  </a:txBody>
                  <a:tcPr marL="91440" marR="91440" marT="45720" marB="45720">
                    <a:lnR w="9525">
                      <a:solidFill>
                        <a:srgbClr val="D5DEE5"/>
                      </a:solidFill>
                    </a:lnR>
                    <a:lnT w="9525">
                      <a:solidFill>
                        <a:srgbClr val="D5DEE5"/>
                      </a:solidFill>
                    </a:lnT>
                    <a:lnB w="9525">
                      <a:solidFill>
                        <a:srgbClr val="D5DEE5"/>
                      </a:solidFill>
                    </a:lnB>
                    <a:solidFill>
                      <a:srgbClr val="E6EEF2"/>
                    </a:solidFill>
                  </a:tcPr>
                </a:tc>
              </a:tr>
              <a:tr h="571500">
                <a:tc>
                  <a:txBody>
                    <a:bodyPr/>
                    <a:lstStyle/>
                    <a:p>
                      <a:r>
                        <a:rPr sz="2025" b="0">
                          <a:solidFill>
                            <a:srgbClr val="172C40"/>
                          </a:solidFill>
                          <a:latin typeface="Arial"/>
                          <a:ea typeface="Arial"/>
                          <a:cs typeface="Arial"/>
                        </a:rPr>
                        <a:t>31,047</a:t>
                      </a:r>
                    </a:p>
                  </a:txBody>
                  <a:tcPr marL="91440" marR="91440" marT="45720" marB="45720">
                    <a:lnL w="9525">
                      <a:solidFill>
                        <a:srgbClr val="D5DEE5"/>
                      </a:solidFill>
                    </a:lnL>
                    <a:lnR w="9525">
                      <a:solidFill>
                        <a:srgbClr val="D5DEE5"/>
                      </a:solidFill>
                    </a:lnR>
                    <a:lnB w="9525">
                      <a:solidFill>
                        <a:srgbClr val="D5DEE5"/>
                      </a:solidFill>
                    </a:lnB>
                    <a:solidFill>
                      <a:srgbClr val="FFFFFF"/>
                    </a:solidFill>
                  </a:tcPr>
                </a:tc>
                <a:tc>
                  <a:txBody>
                    <a:bodyPr/>
                    <a:lstStyle/>
                    <a:p>
                      <a:r>
                        <a:rPr sz="2025" b="0">
                          <a:solidFill>
                            <a:srgbClr val="172C40"/>
                          </a:solidFill>
                          <a:latin typeface="Arial"/>
                          <a:ea typeface="Arial"/>
                          <a:cs typeface="Arial"/>
                        </a:rPr>
                        <a:t>28,471</a:t>
                      </a:r>
                    </a:p>
                  </a:txBody>
                  <a:tcPr marL="91440" marR="91440" marT="45720" marB="45720">
                    <a:lnR w="9525">
                      <a:solidFill>
                        <a:srgbClr val="D5DEE5"/>
                      </a:solidFill>
                    </a:lnR>
                    <a:lnB w="9525">
                      <a:solidFill>
                        <a:srgbClr val="D5DEE5"/>
                      </a:solidFill>
                    </a:lnB>
                    <a:solidFill>
                      <a:srgbClr val="FFFFFF"/>
                    </a:solidFill>
                  </a:tcPr>
                </a:tc>
                <a:tc>
                  <a:txBody>
                    <a:bodyPr/>
                    <a:lstStyle/>
                    <a:p>
                      <a:r>
                        <a:rPr sz="2025" b="0">
                          <a:solidFill>
                            <a:srgbClr val="172C40"/>
                          </a:solidFill>
                          <a:latin typeface="Arial"/>
                          <a:ea typeface="Arial"/>
                          <a:cs typeface="Arial"/>
                        </a:rPr>
                        <a:t>INR 21,176,377</a:t>
                      </a:r>
                    </a:p>
                  </a:txBody>
                  <a:tcPr marL="91440" marR="91440" marT="45720" marB="45720">
                    <a:lnR w="9525">
                      <a:solidFill>
                        <a:srgbClr val="D5DEE5"/>
                      </a:solidFill>
                    </a:lnR>
                    <a:lnB w="9525">
                      <a:solidFill>
                        <a:srgbClr val="D5DEE5"/>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C6788B-B05E-47C7-8C7D-67E9B13268DA}"/>
              </a:ext>
            </a:extLst>
          </p:cNvPr>
          <p:cNvSpPr>
            <a:spLocks xmlns:a="http://schemas.openxmlformats.org/drawingml/2006/main" noGrp="1"/>
          </p:cNvSpPr>
          <p:nvPr/>
        </p:nvSpPr>
        <p:spPr>
          <a:xfrm xmlns:a="http://schemas.openxmlformats.org/drawingml/2006/main">
            <a:off x="571500" y="31432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Completed corrections</a:t>
            </a:r>
          </a:p>
        </p:txBody>
      </p:sp>
      <p:sp>
        <p:nvSpPr>
          <p:cNvPr id="6" name="">
            <a:extLst xmlns:a="http://schemas.openxmlformats.org/drawingml/2006/main">
              <a:ext uri="{FF2B5EF4-FFF2-40B4-BE49-F238E27FC236}">
                <a16:creationId xmlns:a16="http://schemas.microsoft.com/office/drawing/2014/main" id="{D7016817-0B70-4B46-B858-2FF64C39B280}"/>
              </a:ext>
            </a:extLst>
          </p:cNvPr>
          <p:cNvSpPr>
            <a:spLocks xmlns:a="http://schemas.openxmlformats.org/drawingml/2006/main" noGrp="1"/>
          </p:cNvSpPr>
          <p:nvPr/>
        </p:nvSpPr>
        <p:spPr>
          <a:xfrm xmlns:a="http://schemas.openxmlformats.org/drawingml/2006/main">
            <a:off x="571500" y="3762375"/>
            <a:ext cx="533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Arial"/>
                <a:ea typeface="Arial"/>
                <a:cs typeface="Arial"/>
              </a:defRPr>
            </a:defPPr>
            <a:lvl1pPr>
              <a:defRPr sz="1875" b="0">
                <a:solidFill>
                  <a:srgbClr val="172C40"/>
                </a:solidFill>
                <a:latin typeface="Arial"/>
                <a:ea typeface="Arial"/>
                <a:cs typeface="Arial"/>
              </a:defRPr>
            </a:lvl1pPr>
            <a:lvl2pPr>
              <a:defRPr sz="1875" b="0">
                <a:solidFill>
                  <a:srgbClr val="172C40"/>
                </a:solidFill>
                <a:latin typeface="Arial"/>
                <a:ea typeface="Arial"/>
                <a:cs typeface="Arial"/>
              </a:defRPr>
            </a:lvl2pPr>
            <a:lvl3pPr>
              <a:defRPr sz="1875" b="0">
                <a:solidFill>
                  <a:srgbClr val="172C40"/>
                </a:solidFill>
                <a:latin typeface="Arial"/>
                <a:ea typeface="Arial"/>
                <a:cs typeface="Arial"/>
              </a:defRPr>
            </a:lvl3pPr>
            <a:lvl4pPr>
              <a:defRPr sz="1875" b="0">
                <a:solidFill>
                  <a:srgbClr val="172C40"/>
                </a:solidFill>
                <a:latin typeface="Arial"/>
                <a:ea typeface="Arial"/>
                <a:cs typeface="Arial"/>
              </a:defRPr>
            </a:lvl4pPr>
            <a:lvl5pPr>
              <a:defRPr sz="1875" b="0">
                <a:solidFill>
                  <a:srgbClr val="172C40"/>
                </a:solidFill>
                <a:latin typeface="Arial"/>
                <a:ea typeface="Arial"/>
                <a:cs typeface="Arial"/>
              </a:defRPr>
            </a:lvl5pPr>
            <a:lvl6pPr>
              <a:defRPr sz="1875" b="0">
                <a:solidFill>
                  <a:srgbClr val="172C40"/>
                </a:solidFill>
                <a:latin typeface="Arial"/>
                <a:ea typeface="Arial"/>
                <a:cs typeface="Arial"/>
              </a:defRPr>
            </a:lvl6pPr>
            <a:lvl7pPr>
              <a:defRPr sz="1875" b="0">
                <a:solidFill>
                  <a:srgbClr val="172C40"/>
                </a:solidFill>
                <a:latin typeface="Arial"/>
                <a:ea typeface="Arial"/>
                <a:cs typeface="Arial"/>
              </a:defRPr>
            </a:lvl7pPr>
            <a:lvl8pPr>
              <a:defRPr sz="1875" b="0">
                <a:solidFill>
                  <a:srgbClr val="172C40"/>
                </a:solidFill>
                <a:latin typeface="Arial"/>
                <a:ea typeface="Arial"/>
                <a:cs typeface="Arial"/>
              </a:defRPr>
            </a:lvl8pPr>
            <a:lvl9pPr>
              <a:defRPr sz="1875" b="0">
                <a:solidFill>
                  <a:srgbClr val="172C40"/>
                </a:solidFill>
                <a:latin typeface="Arial"/>
                <a:ea typeface="Arial"/>
                <a:cs typeface="Arial"/>
              </a:defRPr>
            </a:lvl9pPr>
          </a:lstStyle>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Channel share uses Sum of Amount</a:t>
            </a:r>
          </a:p>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Age bands are 18–29, 30–49 and 50+</a:t>
            </a:r>
          </a:p>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Status totals reconcile to the source</a:t>
            </a:r>
          </a:p>
        </p:txBody>
      </p:sp>
      <p:sp>
        <p:nvSpPr>
          <p:cNvPr id="7" name="">
            <a:extLst xmlns:a="http://schemas.openxmlformats.org/drawingml/2006/main">
              <a:ext uri="{FF2B5EF4-FFF2-40B4-BE49-F238E27FC236}">
                <a16:creationId xmlns:a16="http://schemas.microsoft.com/office/drawing/2014/main" id="{BCA17E12-5369-462F-9A53-C03DFAD13518}"/>
              </a:ext>
            </a:extLst>
          </p:cNvPr>
          <p:cNvSpPr>
            <a:spLocks xmlns:a="http://schemas.openxmlformats.org/drawingml/2006/main" noGrp="1"/>
          </p:cNvSpPr>
          <p:nvPr/>
        </p:nvSpPr>
        <p:spPr>
          <a:xfrm xmlns:a="http://schemas.openxmlformats.org/drawingml/2006/main">
            <a:off x="6572250" y="3143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Interpretation boundary</a:t>
            </a:r>
          </a:p>
        </p:txBody>
      </p:sp>
      <p:sp>
        <p:nvSpPr>
          <p:cNvPr id="8" name="">
            <a:extLst xmlns:a="http://schemas.openxmlformats.org/drawingml/2006/main">
              <a:ext uri="{FF2B5EF4-FFF2-40B4-BE49-F238E27FC236}">
                <a16:creationId xmlns:a16="http://schemas.microsoft.com/office/drawing/2014/main" id="{BC5F2178-FEDB-4B7A-A35F-3E81AEE77207}"/>
              </a:ext>
            </a:extLst>
          </p:cNvPr>
          <p:cNvSpPr>
            <a:spLocks xmlns:a="http://schemas.openxmlformats.org/drawingml/2006/main" noGrp="1"/>
          </p:cNvSpPr>
          <p:nvPr/>
        </p:nvSpPr>
        <p:spPr>
          <a:xfrm xmlns:a="http://schemas.openxmlformats.org/drawingml/2006/main">
            <a:off x="6572250" y="3762375"/>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Arial"/>
                <a:ea typeface="Arial"/>
                <a:cs typeface="Arial"/>
              </a:defRPr>
            </a:defPPr>
            <a:lvl1pPr>
              <a:defRPr sz="1875" b="0">
                <a:solidFill>
                  <a:srgbClr val="172C40"/>
                </a:solidFill>
                <a:latin typeface="Arial"/>
                <a:ea typeface="Arial"/>
                <a:cs typeface="Arial"/>
              </a:defRPr>
            </a:lvl1pPr>
            <a:lvl2pPr>
              <a:defRPr sz="1875" b="0">
                <a:solidFill>
                  <a:srgbClr val="172C40"/>
                </a:solidFill>
                <a:latin typeface="Arial"/>
                <a:ea typeface="Arial"/>
                <a:cs typeface="Arial"/>
              </a:defRPr>
            </a:lvl2pPr>
            <a:lvl3pPr>
              <a:defRPr sz="1875" b="0">
                <a:solidFill>
                  <a:srgbClr val="172C40"/>
                </a:solidFill>
                <a:latin typeface="Arial"/>
                <a:ea typeface="Arial"/>
                <a:cs typeface="Arial"/>
              </a:defRPr>
            </a:lvl3pPr>
            <a:lvl4pPr>
              <a:defRPr sz="1875" b="0">
                <a:solidFill>
                  <a:srgbClr val="172C40"/>
                </a:solidFill>
                <a:latin typeface="Arial"/>
                <a:ea typeface="Arial"/>
                <a:cs typeface="Arial"/>
              </a:defRPr>
            </a:lvl4pPr>
            <a:lvl5pPr>
              <a:defRPr sz="1875" b="0">
                <a:solidFill>
                  <a:srgbClr val="172C40"/>
                </a:solidFill>
                <a:latin typeface="Arial"/>
                <a:ea typeface="Arial"/>
                <a:cs typeface="Arial"/>
              </a:defRPr>
            </a:lvl5pPr>
            <a:lvl6pPr>
              <a:defRPr sz="1875" b="0">
                <a:solidFill>
                  <a:srgbClr val="172C40"/>
                </a:solidFill>
                <a:latin typeface="Arial"/>
                <a:ea typeface="Arial"/>
                <a:cs typeface="Arial"/>
              </a:defRPr>
            </a:lvl6pPr>
            <a:lvl7pPr>
              <a:defRPr sz="1875" b="0">
                <a:solidFill>
                  <a:srgbClr val="172C40"/>
                </a:solidFill>
                <a:latin typeface="Arial"/>
                <a:ea typeface="Arial"/>
                <a:cs typeface="Arial"/>
              </a:defRPr>
            </a:lvl7pPr>
            <a:lvl8pPr>
              <a:defRPr sz="1875" b="0">
                <a:solidFill>
                  <a:srgbClr val="172C40"/>
                </a:solidFill>
                <a:latin typeface="Arial"/>
                <a:ea typeface="Arial"/>
                <a:cs typeface="Arial"/>
              </a:defRPr>
            </a:lvl8pPr>
            <a:lvl9pPr>
              <a:defRPr sz="1875" b="0">
                <a:solidFill>
                  <a:srgbClr val="172C40"/>
                </a:solidFill>
                <a:latin typeface="Arial"/>
                <a:ea typeface="Arial"/>
                <a:cs typeface="Arial"/>
              </a:defRPr>
            </a:lvl9pPr>
          </a:lstStyle>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Records differ from unique orders</a:t>
            </a:r>
          </a:p>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Amounts include every status</a:t>
            </a:r>
          </a:p>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Repeated IDs still need business clarification</a:t>
            </a:r>
          </a:p>
        </p:txBody>
      </p:sp>
      <p:sp>
        <p:nvSpPr>
          <p:cNvPr id="9" name="">
            <a:extLst xmlns:a="http://schemas.openxmlformats.org/drawingml/2006/main">
              <a:ext uri="{FF2B5EF4-FFF2-40B4-BE49-F238E27FC236}">
                <a16:creationId xmlns:a16="http://schemas.microsoft.com/office/drawing/2014/main" id="{1D0A72D5-00D7-402D-AEC4-AF5BBDBD03E0}"/>
              </a:ext>
            </a:extLst>
          </p:cNvPr>
          <p:cNvSpPr>
            <a:spLocks xmlns:a="http://schemas.openxmlformats.org/drawingml/2006/main" noGrp="1"/>
          </p:cNvSpPr>
          <p:nvPr/>
        </p:nvSpPr>
        <p:spPr>
          <a:xfrm xmlns:a="http://schemas.openxmlformats.org/drawingml/2006/main">
            <a:off x="571500"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474"/>
                </a:solidFill>
                <a:latin typeface="Arial"/>
                <a:ea typeface="Arial"/>
                <a:cs typeface="Arial"/>
              </a:defRPr>
            </a:defPPr>
            <a:lvl1pPr>
              <a:defRPr sz="1725" b="0">
                <a:solidFill>
                  <a:srgbClr val="516474"/>
                </a:solidFill>
                <a:latin typeface="Arial"/>
                <a:ea typeface="Arial"/>
                <a:cs typeface="Arial"/>
              </a:defRPr>
            </a:lvl1pPr>
            <a:lvl2pPr>
              <a:defRPr sz="1725" b="0">
                <a:solidFill>
                  <a:srgbClr val="516474"/>
                </a:solidFill>
                <a:latin typeface="Arial"/>
                <a:ea typeface="Arial"/>
                <a:cs typeface="Arial"/>
              </a:defRPr>
            </a:lvl2pPr>
            <a:lvl3pPr>
              <a:defRPr sz="1725" b="0">
                <a:solidFill>
                  <a:srgbClr val="516474"/>
                </a:solidFill>
                <a:latin typeface="Arial"/>
                <a:ea typeface="Arial"/>
                <a:cs typeface="Arial"/>
              </a:defRPr>
            </a:lvl3pPr>
            <a:lvl4pPr>
              <a:defRPr sz="1725" b="0">
                <a:solidFill>
                  <a:srgbClr val="516474"/>
                </a:solidFill>
                <a:latin typeface="Arial"/>
                <a:ea typeface="Arial"/>
                <a:cs typeface="Arial"/>
              </a:defRPr>
            </a:lvl4pPr>
            <a:lvl5pPr>
              <a:defRPr sz="1725" b="0">
                <a:solidFill>
                  <a:srgbClr val="516474"/>
                </a:solidFill>
                <a:latin typeface="Arial"/>
                <a:ea typeface="Arial"/>
                <a:cs typeface="Arial"/>
              </a:defRPr>
            </a:lvl5pPr>
            <a:lvl6pPr>
              <a:defRPr sz="1725" b="0">
                <a:solidFill>
                  <a:srgbClr val="516474"/>
                </a:solidFill>
                <a:latin typeface="Arial"/>
                <a:ea typeface="Arial"/>
                <a:cs typeface="Arial"/>
              </a:defRPr>
            </a:lvl6pPr>
            <a:lvl7pPr>
              <a:defRPr sz="1725" b="0">
                <a:solidFill>
                  <a:srgbClr val="516474"/>
                </a:solidFill>
                <a:latin typeface="Arial"/>
                <a:ea typeface="Arial"/>
                <a:cs typeface="Arial"/>
              </a:defRPr>
            </a:lvl7pPr>
            <a:lvl8pPr>
              <a:defRPr sz="1725" b="0">
                <a:solidFill>
                  <a:srgbClr val="516474"/>
                </a:solidFill>
                <a:latin typeface="Arial"/>
                <a:ea typeface="Arial"/>
                <a:cs typeface="Arial"/>
              </a:defRPr>
            </a:lvl8pPr>
            <a:lvl9pPr>
              <a:defRPr sz="1725" b="0">
                <a:solidFill>
                  <a:srgbClr val="516474"/>
                </a:solidFill>
                <a:latin typeface="Arial"/>
                <a:ea typeface="Arial"/>
                <a:cs typeface="Arial"/>
              </a:defRPr>
            </a:lvl9pPr>
          </a:lstStyle>
          <a:p xmlns:a="http://schemas.openxmlformats.org/drawingml/2006/main">
            <a:pPr>
              <a:defRPr sz="1725" b="0">
                <a:solidFill>
                  <a:srgbClr val="516474"/>
                </a:solidFill>
                <a:latin typeface="Arial"/>
                <a:ea typeface="Arial"/>
                <a:cs typeface="Arial"/>
              </a:defRPr>
            </a:pPr>
            <a:r>
              <a:rPr sz="1725" b="0">
                <a:solidFill>
                  <a:srgbClr val="516474"/>
                </a:solidFill>
                <a:latin typeface="Arial"/>
                <a:ea typeface="Arial"/>
                <a:cs typeface="Arial"/>
              </a:rPr>
              <a:t>All inspected dates fall in 2022. Month labels match the date values.</a:t>
            </a:r>
          </a:p>
        </p:txBody>
      </p:sp>
    </p:spTree>
    <p:extLst>
      <p:ext uri="{BB962C8B-B14F-4D97-AF65-F5344CB8AC3E}">
        <p14:creationId xmlns:p14="http://schemas.microsoft.com/office/powerpoint/2010/main" val="8317664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FD8682-EAAA-404C-86FB-96340CE4E14F}"/>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0"/>
                </a:solidFill>
                <a:latin typeface="Arial"/>
                <a:ea typeface="Arial"/>
                <a:cs typeface="Arial"/>
              </a:defRPr>
            </a:defPPr>
            <a:lvl1pPr>
              <a:defRPr sz="3150" b="1">
                <a:solidFill>
                  <a:srgbClr val="172C40"/>
                </a:solidFill>
                <a:latin typeface="Arial"/>
                <a:ea typeface="Arial"/>
                <a:cs typeface="Arial"/>
              </a:defRPr>
            </a:lvl1pPr>
            <a:lvl2pPr>
              <a:defRPr sz="3150" b="1">
                <a:solidFill>
                  <a:srgbClr val="172C40"/>
                </a:solidFill>
                <a:latin typeface="Arial"/>
                <a:ea typeface="Arial"/>
                <a:cs typeface="Arial"/>
              </a:defRPr>
            </a:lvl2pPr>
            <a:lvl3pPr>
              <a:defRPr sz="3150" b="1">
                <a:solidFill>
                  <a:srgbClr val="172C40"/>
                </a:solidFill>
                <a:latin typeface="Arial"/>
                <a:ea typeface="Arial"/>
                <a:cs typeface="Arial"/>
              </a:defRPr>
            </a:lvl3pPr>
            <a:lvl4pPr>
              <a:defRPr sz="3150" b="1">
                <a:solidFill>
                  <a:srgbClr val="172C40"/>
                </a:solidFill>
                <a:latin typeface="Arial"/>
                <a:ea typeface="Arial"/>
                <a:cs typeface="Arial"/>
              </a:defRPr>
            </a:lvl4pPr>
            <a:lvl5pPr>
              <a:defRPr sz="3150" b="1">
                <a:solidFill>
                  <a:srgbClr val="172C40"/>
                </a:solidFill>
                <a:latin typeface="Arial"/>
                <a:ea typeface="Arial"/>
                <a:cs typeface="Arial"/>
              </a:defRPr>
            </a:lvl5pPr>
            <a:lvl6pPr>
              <a:defRPr sz="3150" b="1">
                <a:solidFill>
                  <a:srgbClr val="172C40"/>
                </a:solidFill>
                <a:latin typeface="Arial"/>
                <a:ea typeface="Arial"/>
                <a:cs typeface="Arial"/>
              </a:defRPr>
            </a:lvl6pPr>
            <a:lvl7pPr>
              <a:defRPr sz="3150" b="1">
                <a:solidFill>
                  <a:srgbClr val="172C40"/>
                </a:solidFill>
                <a:latin typeface="Arial"/>
                <a:ea typeface="Arial"/>
                <a:cs typeface="Arial"/>
              </a:defRPr>
            </a:lvl7pPr>
            <a:lvl8pPr>
              <a:defRPr sz="3150" b="1">
                <a:solidFill>
                  <a:srgbClr val="172C40"/>
                </a:solidFill>
                <a:latin typeface="Arial"/>
                <a:ea typeface="Arial"/>
                <a:cs typeface="Arial"/>
              </a:defRPr>
            </a:lvl8pPr>
            <a:lvl9pPr>
              <a:defRPr sz="3150" b="1">
                <a:solidFill>
                  <a:srgbClr val="172C40"/>
                </a:solidFill>
                <a:latin typeface="Arial"/>
                <a:ea typeface="Arial"/>
                <a:cs typeface="Arial"/>
              </a:defRPr>
            </a:lvl9pPr>
          </a:lstStyle>
          <a:p xmlns:a="http://schemas.openxmlformats.org/drawingml/2006/main">
            <a:pPr>
              <a:defRPr sz="3150" b="1">
                <a:solidFill>
                  <a:srgbClr val="172C40"/>
                </a:solidFill>
                <a:latin typeface="Arial"/>
                <a:ea typeface="Arial"/>
                <a:cs typeface="Arial"/>
              </a:defRPr>
            </a:pPr>
            <a:r>
              <a:rPr sz="3150" b="1">
                <a:solidFill>
                  <a:srgbClr val="172C40"/>
                </a:solidFill>
                <a:latin typeface="Arial"/>
                <a:ea typeface="Arial"/>
                <a:cs typeface="Arial"/>
              </a:rPr>
              <a:t>Recorded amount is concentrated by channel</a:t>
            </a:r>
          </a:p>
        </p:txBody>
      </p:sp>
      <p:sp>
        <p:nvSpPr>
          <p:cNvPr id="2" name="">
            <a:extLst xmlns:a="http://schemas.openxmlformats.org/drawingml/2006/main">
              <a:ext uri="{FF2B5EF4-FFF2-40B4-BE49-F238E27FC236}">
                <a16:creationId xmlns:a16="http://schemas.microsoft.com/office/drawing/2014/main" id="{BAC1C116-86F4-48DE-BBAA-C619C7296FE4}"/>
              </a:ext>
            </a:extLst>
          </p:cNvPr>
          <p:cNvSpPr>
            <a:spLocks xmlns:a="http://schemas.openxmlformats.org/drawingml/2006/main" noGrp="1"/>
          </p:cNvSpPr>
          <p:nvPr/>
        </p:nvSpPr>
        <p:spPr>
          <a:xfrm xmlns:a="http://schemas.openxmlformats.org/drawingml/2006/main">
            <a:off x="5715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Vrinda Store analysis</a:t>
            </a:r>
          </a:p>
        </p:txBody>
      </p:sp>
      <p:sp>
        <p:nvSpPr>
          <p:cNvPr id="3" name="">
            <a:extLst xmlns:a="http://schemas.openxmlformats.org/drawingml/2006/main">
              <a:ext uri="{FF2B5EF4-FFF2-40B4-BE49-F238E27FC236}">
                <a16:creationId xmlns:a16="http://schemas.microsoft.com/office/drawing/2014/main" id="{156A8A2F-7E62-4074-A0D9-157621AFF1D4}"/>
              </a:ext>
            </a:extLst>
          </p:cNvPr>
          <p:cNvSpPr>
            <a:spLocks xmlns:a="http://schemas.openxmlformats.org/drawingml/2006/main" noGrp="1"/>
          </p:cNvSpPr>
          <p:nvPr/>
        </p:nvSpPr>
        <p:spPr>
          <a:xfrm xmlns:a="http://schemas.openxmlformats.org/drawingml/2006/main">
            <a:off x="11287125" y="64960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3</a:t>
            </a:r>
          </a:p>
        </p:txBody>
      </p:sp>
      <p:graphicFrame>
        <p:nvGraphicFramePr>
          <p:cNvPr id="4" name="Chart">
            <a:extLst xmlns:a="http://schemas.openxmlformats.org/drawingml/2006/main">
              <a:ext uri="{FF2B5EF4-FFF2-40B4-BE49-F238E27FC236}">
                <a16:creationId xmlns:a16="http://schemas.microsoft.com/office/drawing/2014/main" id="{B3739F43-5ACB-4245-9592-4D1E775EBB7B}"/>
              </a:ext>
            </a:extLst>
          </p:cNvPr>
          <p:cNvGraphicFramePr/>
          <p:nvPr/>
        </p:nvGraphicFramePr>
        <p:xfrm>
          <a:off xmlns:a="http://schemas.openxmlformats.org/drawingml/2006/main" x="571500" y="1476375"/>
          <a:ext xmlns:a="http://schemas.openxmlformats.org/drawingml/2006/main" cx="7620000" cy="4095750"/>
        </p:xfrm>
        <a:graphic xmlns:a="http://schemas.openxmlformats.org/drawingml/2006/main">
          <a:graphicData uri="http://schemas.openxmlformats.org/drawingml/2006/chart">
            <c:chart xmlns:r="http://schemas.openxmlformats.org/officeDocument/2006/relationships" xmlns:c="http://schemas.openxmlformats.org/drawingml/2006/chart" r:id="Rd236efc454bb4262"/>
          </a:graphicData>
        </a:graphic>
      </p:graphicFrame>
      <p:sp>
        <p:nvSpPr>
          <p:cNvPr id="5" name="">
            <a:extLst xmlns:a="http://schemas.openxmlformats.org/drawingml/2006/main">
              <a:ext uri="{FF2B5EF4-FFF2-40B4-BE49-F238E27FC236}">
                <a16:creationId xmlns:a16="http://schemas.microsoft.com/office/drawing/2014/main" id="{BB9F4EEE-808E-495D-A433-E01799402BA5}"/>
              </a:ext>
            </a:extLst>
          </p:cNvPr>
          <p:cNvSpPr>
            <a:spLocks xmlns:a="http://schemas.openxmlformats.org/drawingml/2006/main" noGrp="1"/>
          </p:cNvSpPr>
          <p:nvPr/>
        </p:nvSpPr>
        <p:spPr>
          <a:xfrm xmlns:a="http://schemas.openxmlformats.org/drawingml/2006/main">
            <a:off x="8763000" y="200025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7F8C"/>
                </a:solidFill>
                <a:latin typeface="Arial"/>
                <a:ea typeface="Arial"/>
                <a:cs typeface="Arial"/>
              </a:defRPr>
            </a:defPPr>
            <a:lvl1pPr>
              <a:defRPr sz="3900" b="1">
                <a:solidFill>
                  <a:srgbClr val="087F8C"/>
                </a:solidFill>
                <a:latin typeface="Arial"/>
                <a:ea typeface="Arial"/>
                <a:cs typeface="Arial"/>
              </a:defRPr>
            </a:lvl1pPr>
            <a:lvl2pPr>
              <a:defRPr sz="3900" b="1">
                <a:solidFill>
                  <a:srgbClr val="087F8C"/>
                </a:solidFill>
                <a:latin typeface="Arial"/>
                <a:ea typeface="Arial"/>
                <a:cs typeface="Arial"/>
              </a:defRPr>
            </a:lvl2pPr>
            <a:lvl3pPr>
              <a:defRPr sz="3900" b="1">
                <a:solidFill>
                  <a:srgbClr val="087F8C"/>
                </a:solidFill>
                <a:latin typeface="Arial"/>
                <a:ea typeface="Arial"/>
                <a:cs typeface="Arial"/>
              </a:defRPr>
            </a:lvl3pPr>
            <a:lvl4pPr>
              <a:defRPr sz="3900" b="1">
                <a:solidFill>
                  <a:srgbClr val="087F8C"/>
                </a:solidFill>
                <a:latin typeface="Arial"/>
                <a:ea typeface="Arial"/>
                <a:cs typeface="Arial"/>
              </a:defRPr>
            </a:lvl4pPr>
            <a:lvl5pPr>
              <a:defRPr sz="3900" b="1">
                <a:solidFill>
                  <a:srgbClr val="087F8C"/>
                </a:solidFill>
                <a:latin typeface="Arial"/>
                <a:ea typeface="Arial"/>
                <a:cs typeface="Arial"/>
              </a:defRPr>
            </a:lvl5pPr>
            <a:lvl6pPr>
              <a:defRPr sz="3900" b="1">
                <a:solidFill>
                  <a:srgbClr val="087F8C"/>
                </a:solidFill>
                <a:latin typeface="Arial"/>
                <a:ea typeface="Arial"/>
                <a:cs typeface="Arial"/>
              </a:defRPr>
            </a:lvl6pPr>
            <a:lvl7pPr>
              <a:defRPr sz="3900" b="1">
                <a:solidFill>
                  <a:srgbClr val="087F8C"/>
                </a:solidFill>
                <a:latin typeface="Arial"/>
                <a:ea typeface="Arial"/>
                <a:cs typeface="Arial"/>
              </a:defRPr>
            </a:lvl7pPr>
            <a:lvl8pPr>
              <a:defRPr sz="3900" b="1">
                <a:solidFill>
                  <a:srgbClr val="087F8C"/>
                </a:solidFill>
                <a:latin typeface="Arial"/>
                <a:ea typeface="Arial"/>
                <a:cs typeface="Arial"/>
              </a:defRPr>
            </a:lvl8pPr>
            <a:lvl9pPr>
              <a:defRPr sz="3900" b="1">
                <a:solidFill>
                  <a:srgbClr val="087F8C"/>
                </a:solidFill>
                <a:latin typeface="Arial"/>
                <a:ea typeface="Arial"/>
                <a:cs typeface="Arial"/>
              </a:defRPr>
            </a:lvl9pPr>
          </a:lstStyle>
          <a:p xmlns:a="http://schemas.openxmlformats.org/drawingml/2006/main">
            <a:pPr>
              <a:defRPr sz="3900" b="1">
                <a:solidFill>
                  <a:srgbClr val="087F8C"/>
                </a:solidFill>
                <a:latin typeface="Arial"/>
                <a:ea typeface="Arial"/>
                <a:cs typeface="Arial"/>
              </a:defRPr>
            </a:pPr>
            <a:r>
              <a:rPr sz="3900" b="1">
                <a:solidFill>
                  <a:srgbClr val="087F8C"/>
                </a:solidFill>
                <a:latin typeface="Arial"/>
                <a:ea typeface="Arial"/>
                <a:cs typeface="Arial"/>
              </a:rPr>
              <a:t>80.44%</a:t>
            </a:r>
          </a:p>
        </p:txBody>
      </p:sp>
      <p:sp>
        <p:nvSpPr>
          <p:cNvPr id="6" name="">
            <a:extLst xmlns:a="http://schemas.openxmlformats.org/drawingml/2006/main">
              <a:ext uri="{FF2B5EF4-FFF2-40B4-BE49-F238E27FC236}">
                <a16:creationId xmlns:a16="http://schemas.microsoft.com/office/drawing/2014/main" id="{058443A2-3D3B-4BC7-A300-4F7E4B424B28}"/>
              </a:ext>
            </a:extLst>
          </p:cNvPr>
          <p:cNvSpPr>
            <a:spLocks xmlns:a="http://schemas.openxmlformats.org/drawingml/2006/main" noGrp="1"/>
          </p:cNvSpPr>
          <p:nvPr/>
        </p:nvSpPr>
        <p:spPr>
          <a:xfrm xmlns:a="http://schemas.openxmlformats.org/drawingml/2006/main">
            <a:off x="8763000" y="29051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40"/>
                </a:solidFill>
                <a:latin typeface="Arial"/>
                <a:ea typeface="Arial"/>
                <a:cs typeface="Arial"/>
              </a:defRPr>
            </a:defPPr>
            <a:lvl1pPr>
              <a:defRPr sz="2025" b="0">
                <a:solidFill>
                  <a:srgbClr val="172C40"/>
                </a:solidFill>
                <a:latin typeface="Arial"/>
                <a:ea typeface="Arial"/>
                <a:cs typeface="Arial"/>
              </a:defRPr>
            </a:lvl1pPr>
            <a:lvl2pPr>
              <a:defRPr sz="2025" b="0">
                <a:solidFill>
                  <a:srgbClr val="172C40"/>
                </a:solidFill>
                <a:latin typeface="Arial"/>
                <a:ea typeface="Arial"/>
                <a:cs typeface="Arial"/>
              </a:defRPr>
            </a:lvl2pPr>
            <a:lvl3pPr>
              <a:defRPr sz="2025" b="0">
                <a:solidFill>
                  <a:srgbClr val="172C40"/>
                </a:solidFill>
                <a:latin typeface="Arial"/>
                <a:ea typeface="Arial"/>
                <a:cs typeface="Arial"/>
              </a:defRPr>
            </a:lvl3pPr>
            <a:lvl4pPr>
              <a:defRPr sz="2025" b="0">
                <a:solidFill>
                  <a:srgbClr val="172C40"/>
                </a:solidFill>
                <a:latin typeface="Arial"/>
                <a:ea typeface="Arial"/>
                <a:cs typeface="Arial"/>
              </a:defRPr>
            </a:lvl4pPr>
            <a:lvl5pPr>
              <a:defRPr sz="2025" b="0">
                <a:solidFill>
                  <a:srgbClr val="172C40"/>
                </a:solidFill>
                <a:latin typeface="Arial"/>
                <a:ea typeface="Arial"/>
                <a:cs typeface="Arial"/>
              </a:defRPr>
            </a:lvl5pPr>
            <a:lvl6pPr>
              <a:defRPr sz="2025" b="0">
                <a:solidFill>
                  <a:srgbClr val="172C40"/>
                </a:solidFill>
                <a:latin typeface="Arial"/>
                <a:ea typeface="Arial"/>
                <a:cs typeface="Arial"/>
              </a:defRPr>
            </a:lvl6pPr>
            <a:lvl7pPr>
              <a:defRPr sz="2025" b="0">
                <a:solidFill>
                  <a:srgbClr val="172C40"/>
                </a:solidFill>
                <a:latin typeface="Arial"/>
                <a:ea typeface="Arial"/>
                <a:cs typeface="Arial"/>
              </a:defRPr>
            </a:lvl7pPr>
            <a:lvl8pPr>
              <a:defRPr sz="2025" b="0">
                <a:solidFill>
                  <a:srgbClr val="172C40"/>
                </a:solidFill>
                <a:latin typeface="Arial"/>
                <a:ea typeface="Arial"/>
                <a:cs typeface="Arial"/>
              </a:defRPr>
            </a:lvl8pPr>
            <a:lvl9pPr>
              <a:defRPr sz="2025" b="0">
                <a:solidFill>
                  <a:srgbClr val="172C40"/>
                </a:solidFill>
                <a:latin typeface="Arial"/>
                <a:ea typeface="Arial"/>
                <a:cs typeface="Arial"/>
              </a:defRPr>
            </a:lvl9pPr>
          </a:lstStyle>
          <a:p xmlns:a="http://schemas.openxmlformats.org/drawingml/2006/main">
            <a:pPr>
              <a:defRPr sz="2025" b="0">
                <a:solidFill>
                  <a:srgbClr val="172C40"/>
                </a:solidFill>
                <a:latin typeface="Arial"/>
                <a:ea typeface="Arial"/>
                <a:cs typeface="Arial"/>
              </a:defRPr>
            </a:pPr>
            <a:r>
              <a:rPr sz="2025" b="0">
                <a:solidFill>
                  <a:srgbClr val="172C40"/>
                </a:solidFill>
                <a:latin typeface="Arial"/>
                <a:ea typeface="Arial"/>
                <a:cs typeface="Arial"/>
              </a:rPr>
              <a:t>of recorded amount comes from Amazon, Myntra and Flipkart together</a:t>
            </a:r>
          </a:p>
        </p:txBody>
      </p:sp>
      <p:sp>
        <p:nvSpPr>
          <p:cNvPr id="7" name="">
            <a:extLst xmlns:a="http://schemas.openxmlformats.org/drawingml/2006/main">
              <a:ext uri="{FF2B5EF4-FFF2-40B4-BE49-F238E27FC236}">
                <a16:creationId xmlns:a16="http://schemas.microsoft.com/office/drawing/2014/main" id="{F12B274A-D3C1-4B29-87D1-D8B83C405EE1}"/>
              </a:ext>
            </a:extLst>
          </p:cNvPr>
          <p:cNvSpPr>
            <a:spLocks xmlns:a="http://schemas.openxmlformats.org/drawingml/2006/main" noGrp="1"/>
          </p:cNvSpPr>
          <p:nvPr/>
        </p:nvSpPr>
        <p:spPr>
          <a:xfrm xmlns:a="http://schemas.openxmlformats.org/drawingml/2006/main">
            <a:off x="571500" y="59245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C40"/>
                </a:solidFill>
                <a:latin typeface="Arial"/>
                <a:ea typeface="Arial"/>
                <a:cs typeface="Arial"/>
              </a:defRPr>
            </a:defPPr>
            <a:lvl1pPr>
              <a:defRPr sz="1800" b="0">
                <a:solidFill>
                  <a:srgbClr val="172C40"/>
                </a:solidFill>
                <a:latin typeface="Arial"/>
                <a:ea typeface="Arial"/>
                <a:cs typeface="Arial"/>
              </a:defRPr>
            </a:lvl1pPr>
            <a:lvl2pPr>
              <a:defRPr sz="1800" b="0">
                <a:solidFill>
                  <a:srgbClr val="172C40"/>
                </a:solidFill>
                <a:latin typeface="Arial"/>
                <a:ea typeface="Arial"/>
                <a:cs typeface="Arial"/>
              </a:defRPr>
            </a:lvl2pPr>
            <a:lvl3pPr>
              <a:defRPr sz="1800" b="0">
                <a:solidFill>
                  <a:srgbClr val="172C40"/>
                </a:solidFill>
                <a:latin typeface="Arial"/>
                <a:ea typeface="Arial"/>
                <a:cs typeface="Arial"/>
              </a:defRPr>
            </a:lvl3pPr>
            <a:lvl4pPr>
              <a:defRPr sz="1800" b="0">
                <a:solidFill>
                  <a:srgbClr val="172C40"/>
                </a:solidFill>
                <a:latin typeface="Arial"/>
                <a:ea typeface="Arial"/>
                <a:cs typeface="Arial"/>
              </a:defRPr>
            </a:lvl4pPr>
            <a:lvl5pPr>
              <a:defRPr sz="1800" b="0">
                <a:solidFill>
                  <a:srgbClr val="172C40"/>
                </a:solidFill>
                <a:latin typeface="Arial"/>
                <a:ea typeface="Arial"/>
                <a:cs typeface="Arial"/>
              </a:defRPr>
            </a:lvl5pPr>
            <a:lvl6pPr>
              <a:defRPr sz="1800" b="0">
                <a:solidFill>
                  <a:srgbClr val="172C40"/>
                </a:solidFill>
                <a:latin typeface="Arial"/>
                <a:ea typeface="Arial"/>
                <a:cs typeface="Arial"/>
              </a:defRPr>
            </a:lvl6pPr>
            <a:lvl7pPr>
              <a:defRPr sz="1800" b="0">
                <a:solidFill>
                  <a:srgbClr val="172C40"/>
                </a:solidFill>
                <a:latin typeface="Arial"/>
                <a:ea typeface="Arial"/>
                <a:cs typeface="Arial"/>
              </a:defRPr>
            </a:lvl7pPr>
            <a:lvl8pPr>
              <a:defRPr sz="1800" b="0">
                <a:solidFill>
                  <a:srgbClr val="172C40"/>
                </a:solidFill>
                <a:latin typeface="Arial"/>
                <a:ea typeface="Arial"/>
                <a:cs typeface="Arial"/>
              </a:defRPr>
            </a:lvl8pPr>
            <a:lvl9pPr>
              <a:defRPr sz="1800" b="0">
                <a:solidFill>
                  <a:srgbClr val="172C40"/>
                </a:solidFill>
                <a:latin typeface="Arial"/>
                <a:ea typeface="Arial"/>
                <a:cs typeface="Arial"/>
              </a:defRPr>
            </a:lvl9pPr>
          </a:lstStyle>
          <a:p xmlns:a="http://schemas.openxmlformats.org/drawingml/2006/main">
            <a:pPr>
              <a:defRPr sz="1800" b="0">
                <a:solidFill>
                  <a:srgbClr val="172C40"/>
                </a:solidFill>
                <a:latin typeface="Arial"/>
                <a:ea typeface="Arial"/>
                <a:cs typeface="Arial"/>
              </a:defRPr>
            </a:pPr>
            <a:r>
              <a:rPr sz="1800" b="0">
                <a:solidFill>
                  <a:srgbClr val="172C40"/>
                </a:solidFill>
                <a:latin typeface="Arial"/>
                <a:ea typeface="Arial"/>
                <a:cs typeface="Arial"/>
              </a:rPr>
              <a:t>Channel concentration does not establish profitability or advertising returns.</a:t>
            </a:r>
          </a:p>
        </p:txBody>
      </p:sp>
    </p:spTree>
    <p:extLst>
      <p:ext uri="{BB962C8B-B14F-4D97-AF65-F5344CB8AC3E}">
        <p14:creationId xmlns:p14="http://schemas.microsoft.com/office/powerpoint/2010/main" val="13296996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857A44-9B05-4ED7-A018-A754BEF1D67A}"/>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0"/>
                </a:solidFill>
                <a:latin typeface="Arial"/>
                <a:ea typeface="Arial"/>
                <a:cs typeface="Arial"/>
              </a:defRPr>
            </a:defPPr>
            <a:lvl1pPr>
              <a:defRPr sz="3150" b="1">
                <a:solidFill>
                  <a:srgbClr val="172C40"/>
                </a:solidFill>
                <a:latin typeface="Arial"/>
                <a:ea typeface="Arial"/>
                <a:cs typeface="Arial"/>
              </a:defRPr>
            </a:lvl1pPr>
            <a:lvl2pPr>
              <a:defRPr sz="3150" b="1">
                <a:solidFill>
                  <a:srgbClr val="172C40"/>
                </a:solidFill>
                <a:latin typeface="Arial"/>
                <a:ea typeface="Arial"/>
                <a:cs typeface="Arial"/>
              </a:defRPr>
            </a:lvl2pPr>
            <a:lvl3pPr>
              <a:defRPr sz="3150" b="1">
                <a:solidFill>
                  <a:srgbClr val="172C40"/>
                </a:solidFill>
                <a:latin typeface="Arial"/>
                <a:ea typeface="Arial"/>
                <a:cs typeface="Arial"/>
              </a:defRPr>
            </a:lvl3pPr>
            <a:lvl4pPr>
              <a:defRPr sz="3150" b="1">
                <a:solidFill>
                  <a:srgbClr val="172C40"/>
                </a:solidFill>
                <a:latin typeface="Arial"/>
                <a:ea typeface="Arial"/>
                <a:cs typeface="Arial"/>
              </a:defRPr>
            </a:lvl4pPr>
            <a:lvl5pPr>
              <a:defRPr sz="3150" b="1">
                <a:solidFill>
                  <a:srgbClr val="172C40"/>
                </a:solidFill>
                <a:latin typeface="Arial"/>
                <a:ea typeface="Arial"/>
                <a:cs typeface="Arial"/>
              </a:defRPr>
            </a:lvl5pPr>
            <a:lvl6pPr>
              <a:defRPr sz="3150" b="1">
                <a:solidFill>
                  <a:srgbClr val="172C40"/>
                </a:solidFill>
                <a:latin typeface="Arial"/>
                <a:ea typeface="Arial"/>
                <a:cs typeface="Arial"/>
              </a:defRPr>
            </a:lvl6pPr>
            <a:lvl7pPr>
              <a:defRPr sz="3150" b="1">
                <a:solidFill>
                  <a:srgbClr val="172C40"/>
                </a:solidFill>
                <a:latin typeface="Arial"/>
                <a:ea typeface="Arial"/>
                <a:cs typeface="Arial"/>
              </a:defRPr>
            </a:lvl7pPr>
            <a:lvl8pPr>
              <a:defRPr sz="3150" b="1">
                <a:solidFill>
                  <a:srgbClr val="172C40"/>
                </a:solidFill>
                <a:latin typeface="Arial"/>
                <a:ea typeface="Arial"/>
                <a:cs typeface="Arial"/>
              </a:defRPr>
            </a:lvl8pPr>
            <a:lvl9pPr>
              <a:defRPr sz="3150" b="1">
                <a:solidFill>
                  <a:srgbClr val="172C40"/>
                </a:solidFill>
                <a:latin typeface="Arial"/>
                <a:ea typeface="Arial"/>
                <a:cs typeface="Arial"/>
              </a:defRPr>
            </a:lvl9pPr>
          </a:lstStyle>
          <a:p xmlns:a="http://schemas.openxmlformats.org/drawingml/2006/main">
            <a:pPr>
              <a:defRPr sz="3150" b="1">
                <a:solidFill>
                  <a:srgbClr val="172C40"/>
                </a:solidFill>
                <a:latin typeface="Arial"/>
                <a:ea typeface="Arial"/>
                <a:cs typeface="Arial"/>
              </a:defRPr>
            </a:pPr>
            <a:r>
              <a:rPr sz="3150" b="1">
                <a:solidFill>
                  <a:srgbClr val="172C40"/>
                </a:solidFill>
                <a:latin typeface="Arial"/>
                <a:ea typeface="Arial"/>
                <a:cs typeface="Arial"/>
              </a:rPr>
              <a:t>Customer patterns and status scope</a:t>
            </a:r>
          </a:p>
        </p:txBody>
      </p:sp>
      <p:sp>
        <p:nvSpPr>
          <p:cNvPr id="2" name="">
            <a:extLst xmlns:a="http://schemas.openxmlformats.org/drawingml/2006/main">
              <a:ext uri="{FF2B5EF4-FFF2-40B4-BE49-F238E27FC236}">
                <a16:creationId xmlns:a16="http://schemas.microsoft.com/office/drawing/2014/main" id="{8276A235-69E9-4354-ABFB-5B1CBBB4A790}"/>
              </a:ext>
            </a:extLst>
          </p:cNvPr>
          <p:cNvSpPr>
            <a:spLocks xmlns:a="http://schemas.openxmlformats.org/drawingml/2006/main" noGrp="1"/>
          </p:cNvSpPr>
          <p:nvPr/>
        </p:nvSpPr>
        <p:spPr>
          <a:xfrm xmlns:a="http://schemas.openxmlformats.org/drawingml/2006/main">
            <a:off x="5715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Vrinda Store analysis</a:t>
            </a:r>
          </a:p>
        </p:txBody>
      </p:sp>
      <p:sp>
        <p:nvSpPr>
          <p:cNvPr id="3" name="">
            <a:extLst xmlns:a="http://schemas.openxmlformats.org/drawingml/2006/main">
              <a:ext uri="{FF2B5EF4-FFF2-40B4-BE49-F238E27FC236}">
                <a16:creationId xmlns:a16="http://schemas.microsoft.com/office/drawing/2014/main" id="{DFDB75D6-E379-4F53-8BBD-B81FA14A9C75}"/>
              </a:ext>
            </a:extLst>
          </p:cNvPr>
          <p:cNvSpPr>
            <a:spLocks xmlns:a="http://schemas.openxmlformats.org/drawingml/2006/main" noGrp="1"/>
          </p:cNvSpPr>
          <p:nvPr/>
        </p:nvSpPr>
        <p:spPr>
          <a:xfrm xmlns:a="http://schemas.openxmlformats.org/drawingml/2006/main">
            <a:off x="11287125" y="64960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7C9338A9-A4A3-425C-B35F-61F20EE6CFF2}"/>
              </a:ext>
            </a:extLst>
          </p:cNvPr>
          <p:cNvSpPr>
            <a:spLocks xmlns:a="http://schemas.openxmlformats.org/drawingml/2006/main" noGrp="1"/>
          </p:cNvSpPr>
          <p:nvPr/>
        </p:nvSpPr>
        <p:spPr>
          <a:xfrm xmlns:a="http://schemas.openxmlformats.org/drawingml/2006/main">
            <a:off x="571500" y="14287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87F8C"/>
                </a:solidFill>
                <a:latin typeface="Arial"/>
                <a:ea typeface="Arial"/>
                <a:cs typeface="Arial"/>
              </a:defRPr>
            </a:defPPr>
            <a:lvl1pPr>
              <a:defRPr sz="3675" b="1">
                <a:solidFill>
                  <a:srgbClr val="087F8C"/>
                </a:solidFill>
                <a:latin typeface="Arial"/>
                <a:ea typeface="Arial"/>
                <a:cs typeface="Arial"/>
              </a:defRPr>
            </a:lvl1pPr>
            <a:lvl2pPr>
              <a:defRPr sz="3675" b="1">
                <a:solidFill>
                  <a:srgbClr val="087F8C"/>
                </a:solidFill>
                <a:latin typeface="Arial"/>
                <a:ea typeface="Arial"/>
                <a:cs typeface="Arial"/>
              </a:defRPr>
            </a:lvl2pPr>
            <a:lvl3pPr>
              <a:defRPr sz="3675" b="1">
                <a:solidFill>
                  <a:srgbClr val="087F8C"/>
                </a:solidFill>
                <a:latin typeface="Arial"/>
                <a:ea typeface="Arial"/>
                <a:cs typeface="Arial"/>
              </a:defRPr>
            </a:lvl3pPr>
            <a:lvl4pPr>
              <a:defRPr sz="3675" b="1">
                <a:solidFill>
                  <a:srgbClr val="087F8C"/>
                </a:solidFill>
                <a:latin typeface="Arial"/>
                <a:ea typeface="Arial"/>
                <a:cs typeface="Arial"/>
              </a:defRPr>
            </a:lvl4pPr>
            <a:lvl5pPr>
              <a:defRPr sz="3675" b="1">
                <a:solidFill>
                  <a:srgbClr val="087F8C"/>
                </a:solidFill>
                <a:latin typeface="Arial"/>
                <a:ea typeface="Arial"/>
                <a:cs typeface="Arial"/>
              </a:defRPr>
            </a:lvl5pPr>
            <a:lvl6pPr>
              <a:defRPr sz="3675" b="1">
                <a:solidFill>
                  <a:srgbClr val="087F8C"/>
                </a:solidFill>
                <a:latin typeface="Arial"/>
                <a:ea typeface="Arial"/>
                <a:cs typeface="Arial"/>
              </a:defRPr>
            </a:lvl6pPr>
            <a:lvl7pPr>
              <a:defRPr sz="3675" b="1">
                <a:solidFill>
                  <a:srgbClr val="087F8C"/>
                </a:solidFill>
                <a:latin typeface="Arial"/>
                <a:ea typeface="Arial"/>
                <a:cs typeface="Arial"/>
              </a:defRPr>
            </a:lvl7pPr>
            <a:lvl8pPr>
              <a:defRPr sz="3675" b="1">
                <a:solidFill>
                  <a:srgbClr val="087F8C"/>
                </a:solidFill>
                <a:latin typeface="Arial"/>
                <a:ea typeface="Arial"/>
                <a:cs typeface="Arial"/>
              </a:defRPr>
            </a:lvl8pPr>
            <a:lvl9pPr>
              <a:defRPr sz="3675" b="1">
                <a:solidFill>
                  <a:srgbClr val="087F8C"/>
                </a:solidFill>
                <a:latin typeface="Arial"/>
                <a:ea typeface="Arial"/>
                <a:cs typeface="Arial"/>
              </a:defRPr>
            </a:lvl9pPr>
          </a:lstStyle>
          <a:p xmlns:a="http://schemas.openxmlformats.org/drawingml/2006/main">
            <a:pPr>
              <a:defRPr sz="3675" b="1">
                <a:solidFill>
                  <a:srgbClr val="087F8C"/>
                </a:solidFill>
                <a:latin typeface="Arial"/>
                <a:ea typeface="Arial"/>
                <a:cs typeface="Arial"/>
              </a:defRPr>
            </a:pPr>
            <a:r>
              <a:rPr sz="3675" b="1">
                <a:solidFill>
                  <a:srgbClr val="087F8C"/>
                </a:solidFill>
                <a:latin typeface="Arial"/>
                <a:ea typeface="Arial"/>
                <a:cs typeface="Arial"/>
              </a:rPr>
              <a:t>64.05%</a:t>
            </a:r>
          </a:p>
        </p:txBody>
      </p:sp>
      <p:sp>
        <p:nvSpPr>
          <p:cNvPr id="5" name="">
            <a:extLst xmlns:a="http://schemas.openxmlformats.org/drawingml/2006/main">
              <a:ext uri="{FF2B5EF4-FFF2-40B4-BE49-F238E27FC236}">
                <a16:creationId xmlns:a16="http://schemas.microsoft.com/office/drawing/2014/main" id="{EB023B98-6050-4F43-93F8-B042FB633500}"/>
              </a:ext>
            </a:extLst>
          </p:cNvPr>
          <p:cNvSpPr>
            <a:spLocks xmlns:a="http://schemas.openxmlformats.org/drawingml/2006/main" noGrp="1"/>
          </p:cNvSpPr>
          <p:nvPr/>
        </p:nvSpPr>
        <p:spPr>
          <a:xfrm xmlns:a="http://schemas.openxmlformats.org/drawingml/2006/main">
            <a:off x="571500" y="2238375"/>
            <a:ext cx="4905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40"/>
                </a:solidFill>
                <a:latin typeface="Arial"/>
                <a:ea typeface="Arial"/>
                <a:cs typeface="Arial"/>
              </a:defRPr>
            </a:defPPr>
            <a:lvl1pPr>
              <a:defRPr sz="2025" b="0">
                <a:solidFill>
                  <a:srgbClr val="172C40"/>
                </a:solidFill>
                <a:latin typeface="Arial"/>
                <a:ea typeface="Arial"/>
                <a:cs typeface="Arial"/>
              </a:defRPr>
            </a:lvl1pPr>
            <a:lvl2pPr>
              <a:defRPr sz="2025" b="0">
                <a:solidFill>
                  <a:srgbClr val="172C40"/>
                </a:solidFill>
                <a:latin typeface="Arial"/>
                <a:ea typeface="Arial"/>
                <a:cs typeface="Arial"/>
              </a:defRPr>
            </a:lvl2pPr>
            <a:lvl3pPr>
              <a:defRPr sz="2025" b="0">
                <a:solidFill>
                  <a:srgbClr val="172C40"/>
                </a:solidFill>
                <a:latin typeface="Arial"/>
                <a:ea typeface="Arial"/>
                <a:cs typeface="Arial"/>
              </a:defRPr>
            </a:lvl3pPr>
            <a:lvl4pPr>
              <a:defRPr sz="2025" b="0">
                <a:solidFill>
                  <a:srgbClr val="172C40"/>
                </a:solidFill>
                <a:latin typeface="Arial"/>
                <a:ea typeface="Arial"/>
                <a:cs typeface="Arial"/>
              </a:defRPr>
            </a:lvl4pPr>
            <a:lvl5pPr>
              <a:defRPr sz="2025" b="0">
                <a:solidFill>
                  <a:srgbClr val="172C40"/>
                </a:solidFill>
                <a:latin typeface="Arial"/>
                <a:ea typeface="Arial"/>
                <a:cs typeface="Arial"/>
              </a:defRPr>
            </a:lvl5pPr>
            <a:lvl6pPr>
              <a:defRPr sz="2025" b="0">
                <a:solidFill>
                  <a:srgbClr val="172C40"/>
                </a:solidFill>
                <a:latin typeface="Arial"/>
                <a:ea typeface="Arial"/>
                <a:cs typeface="Arial"/>
              </a:defRPr>
            </a:lvl6pPr>
            <a:lvl7pPr>
              <a:defRPr sz="2025" b="0">
                <a:solidFill>
                  <a:srgbClr val="172C40"/>
                </a:solidFill>
                <a:latin typeface="Arial"/>
                <a:ea typeface="Arial"/>
                <a:cs typeface="Arial"/>
              </a:defRPr>
            </a:lvl7pPr>
            <a:lvl8pPr>
              <a:defRPr sz="2025" b="0">
                <a:solidFill>
                  <a:srgbClr val="172C40"/>
                </a:solidFill>
                <a:latin typeface="Arial"/>
                <a:ea typeface="Arial"/>
                <a:cs typeface="Arial"/>
              </a:defRPr>
            </a:lvl8pPr>
            <a:lvl9pPr>
              <a:defRPr sz="2025" b="0">
                <a:solidFill>
                  <a:srgbClr val="172C40"/>
                </a:solidFill>
                <a:latin typeface="Arial"/>
                <a:ea typeface="Arial"/>
                <a:cs typeface="Arial"/>
              </a:defRPr>
            </a:lvl9pPr>
          </a:lstStyle>
          <a:p xmlns:a="http://schemas.openxmlformats.org/drawingml/2006/main">
            <a:pPr>
              <a:defRPr sz="2025" b="0">
                <a:solidFill>
                  <a:srgbClr val="172C40"/>
                </a:solidFill>
                <a:latin typeface="Arial"/>
                <a:ea typeface="Arial"/>
                <a:cs typeface="Arial"/>
              </a:defRPr>
            </a:pPr>
            <a:r>
              <a:rPr sz="2025" b="0">
                <a:solidFill>
                  <a:srgbClr val="172C40"/>
                </a:solidFill>
                <a:latin typeface="Arial"/>
                <a:ea typeface="Arial"/>
                <a:cs typeface="Arial"/>
              </a:rPr>
              <a:t>of recorded amount is associated with women</a:t>
            </a:r>
          </a:p>
        </p:txBody>
      </p:sp>
      <p:sp>
        <p:nvSpPr>
          <p:cNvPr id="6" name="">
            <a:extLst xmlns:a="http://schemas.openxmlformats.org/drawingml/2006/main">
              <a:ext uri="{FF2B5EF4-FFF2-40B4-BE49-F238E27FC236}">
                <a16:creationId xmlns:a16="http://schemas.microsoft.com/office/drawing/2014/main" id="{88535D24-F853-4896-92FD-DBD8632B4DB2}"/>
              </a:ext>
            </a:extLst>
          </p:cNvPr>
          <p:cNvSpPr>
            <a:spLocks xmlns:a="http://schemas.openxmlformats.org/drawingml/2006/main" noGrp="1"/>
          </p:cNvSpPr>
          <p:nvPr/>
        </p:nvSpPr>
        <p:spPr>
          <a:xfrm xmlns:a="http://schemas.openxmlformats.org/drawingml/2006/main">
            <a:off x="571500" y="34766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March leads monthly amount</a:t>
            </a:r>
          </a:p>
        </p:txBody>
      </p:sp>
      <p:sp>
        <p:nvSpPr>
          <p:cNvPr id="7" name="">
            <a:extLst xmlns:a="http://schemas.openxmlformats.org/drawingml/2006/main">
              <a:ext uri="{FF2B5EF4-FFF2-40B4-BE49-F238E27FC236}">
                <a16:creationId xmlns:a16="http://schemas.microsoft.com/office/drawing/2014/main" id="{687E10A1-15A8-4E3A-87A6-F3E9474A5D50}"/>
              </a:ext>
            </a:extLst>
          </p:cNvPr>
          <p:cNvSpPr>
            <a:spLocks xmlns:a="http://schemas.openxmlformats.org/drawingml/2006/main" noGrp="1"/>
          </p:cNvSpPr>
          <p:nvPr/>
        </p:nvSpPr>
        <p:spPr>
          <a:xfrm xmlns:a="http://schemas.openxmlformats.org/drawingml/2006/main">
            <a:off x="571500" y="409575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C40"/>
                </a:solidFill>
                <a:latin typeface="Arial"/>
                <a:ea typeface="Arial"/>
                <a:cs typeface="Arial"/>
              </a:defRPr>
            </a:defPPr>
            <a:lvl1pPr>
              <a:defRPr sz="2250" b="0">
                <a:solidFill>
                  <a:srgbClr val="172C40"/>
                </a:solidFill>
                <a:latin typeface="Arial"/>
                <a:ea typeface="Arial"/>
                <a:cs typeface="Arial"/>
              </a:defRPr>
            </a:lvl1pPr>
            <a:lvl2pPr>
              <a:defRPr sz="2250" b="0">
                <a:solidFill>
                  <a:srgbClr val="172C40"/>
                </a:solidFill>
                <a:latin typeface="Arial"/>
                <a:ea typeface="Arial"/>
                <a:cs typeface="Arial"/>
              </a:defRPr>
            </a:lvl2pPr>
            <a:lvl3pPr>
              <a:defRPr sz="2250" b="0">
                <a:solidFill>
                  <a:srgbClr val="172C40"/>
                </a:solidFill>
                <a:latin typeface="Arial"/>
                <a:ea typeface="Arial"/>
                <a:cs typeface="Arial"/>
              </a:defRPr>
            </a:lvl3pPr>
            <a:lvl4pPr>
              <a:defRPr sz="2250" b="0">
                <a:solidFill>
                  <a:srgbClr val="172C40"/>
                </a:solidFill>
                <a:latin typeface="Arial"/>
                <a:ea typeface="Arial"/>
                <a:cs typeface="Arial"/>
              </a:defRPr>
            </a:lvl4pPr>
            <a:lvl5pPr>
              <a:defRPr sz="2250" b="0">
                <a:solidFill>
                  <a:srgbClr val="172C40"/>
                </a:solidFill>
                <a:latin typeface="Arial"/>
                <a:ea typeface="Arial"/>
                <a:cs typeface="Arial"/>
              </a:defRPr>
            </a:lvl5pPr>
            <a:lvl6pPr>
              <a:defRPr sz="2250" b="0">
                <a:solidFill>
                  <a:srgbClr val="172C40"/>
                </a:solidFill>
                <a:latin typeface="Arial"/>
                <a:ea typeface="Arial"/>
                <a:cs typeface="Arial"/>
              </a:defRPr>
            </a:lvl6pPr>
            <a:lvl7pPr>
              <a:defRPr sz="2250" b="0">
                <a:solidFill>
                  <a:srgbClr val="172C40"/>
                </a:solidFill>
                <a:latin typeface="Arial"/>
                <a:ea typeface="Arial"/>
                <a:cs typeface="Arial"/>
              </a:defRPr>
            </a:lvl7pPr>
            <a:lvl8pPr>
              <a:defRPr sz="2250" b="0">
                <a:solidFill>
                  <a:srgbClr val="172C40"/>
                </a:solidFill>
                <a:latin typeface="Arial"/>
                <a:ea typeface="Arial"/>
                <a:cs typeface="Arial"/>
              </a:defRPr>
            </a:lvl8pPr>
            <a:lvl9pPr>
              <a:defRPr sz="2250" b="0">
                <a:solidFill>
                  <a:srgbClr val="172C40"/>
                </a:solidFill>
                <a:latin typeface="Arial"/>
                <a:ea typeface="Arial"/>
                <a:cs typeface="Arial"/>
              </a:defRPr>
            </a:lvl9pPr>
          </a:lstStyle>
          <a:p xmlns:a="http://schemas.openxmlformats.org/drawingml/2006/main">
            <a:pPr>
              <a:defRPr sz="2250" b="0">
                <a:solidFill>
                  <a:srgbClr val="172C40"/>
                </a:solidFill>
                <a:latin typeface="Arial"/>
                <a:ea typeface="Arial"/>
                <a:cs typeface="Arial"/>
              </a:defRPr>
            </a:pPr>
            <a:r>
              <a:rPr sz="2250" b="0">
                <a:solidFill>
                  <a:srgbClr val="172C40"/>
                </a:solidFill>
                <a:latin typeface="Arial"/>
                <a:ea typeface="Arial"/>
                <a:cs typeface="Arial"/>
              </a:rPr>
              <a:t>INR 1,928,066</a:t>
            </a:r>
          </a:p>
          <a:p xmlns:a="http://schemas.openxmlformats.org/drawingml/2006/main">
            <a:pPr>
              <a:defRPr sz="2250" b="0">
                <a:solidFill>
                  <a:srgbClr val="172C40"/>
                </a:solidFill>
                <a:latin typeface="Arial"/>
                <a:ea typeface="Arial"/>
                <a:cs typeface="Arial"/>
              </a:defRPr>
            </a:pPr>
            <a:r>
              <a:rPr sz="2250" b="0">
                <a:solidFill>
                  <a:srgbClr val="172C40"/>
                </a:solidFill>
                <a:latin typeface="Arial"/>
                <a:ea typeface="Arial"/>
                <a:cs typeface="Arial"/>
              </a:rPr>
              <a:t>2,819 records</a:t>
            </a:r>
          </a:p>
        </p:txBody>
      </p:sp>
      <p:graphicFrame>
        <p:nvGraphicFramePr>
          <p:cNvPr id="8" name="">
            <a:extLst xmlns:a="http://schemas.openxmlformats.org/drawingml/2006/main">
              <a:ext uri="{FF2B5EF4-FFF2-40B4-BE49-F238E27FC236}">
                <a16:creationId xmlns:a16="http://schemas.microsoft.com/office/drawing/2014/main" id="{B2E04382-3DA8-4425-9892-E5051B8EFC50}"/>
              </a:ext>
            </a:extLst>
          </p:cNvPr>
          <p:cNvGraphicFramePr/>
          <p:nvPr/>
        </p:nvGraphicFramePr>
        <p:xfrm>
          <a:off xmlns:a="http://schemas.openxmlformats.org/drawingml/2006/main" x="6191250" y="1524000"/>
          <a:ext xmlns:a="http://schemas.openxmlformats.org/drawingml/2006/main" cx="5429250" cy="2952750"/>
        </p:xfrm>
        <a:graphic xmlns:a="http://schemas.openxmlformats.org/drawingml/2006/main">
          <a:graphicData uri="http://schemas.openxmlformats.org/drawingml/2006/table">
            <a:tbl>
              <a:tblPr/>
              <a:tblGrid>
                <a:gridCol w="1809750"/>
                <a:gridCol w="1809750"/>
                <a:gridCol w="1809750"/>
              </a:tblGrid>
              <a:tr h="590550">
                <a:tc>
                  <a:txBody>
                    <a:bodyPr/>
                    <a:lstStyle/>
                    <a:p>
                      <a:r>
                        <a:rPr sz="1725" b="1">
                          <a:solidFill>
                            <a:srgbClr val="172C40"/>
                          </a:solidFill>
                          <a:latin typeface="Arial"/>
                          <a:ea typeface="Arial"/>
                          <a:cs typeface="Arial"/>
                        </a:rPr>
                        <a:t>Status</a:t>
                      </a:r>
                    </a:p>
                  </a:txBody>
                  <a:tcPr marL="91440" marR="91440" marT="45720" marB="45720">
                    <a:lnL w="9525">
                      <a:solidFill>
                        <a:srgbClr val="D5DEE5"/>
                      </a:solidFill>
                    </a:lnL>
                    <a:lnR w="9525">
                      <a:solidFill>
                        <a:srgbClr val="D5DEE5"/>
                      </a:solidFill>
                    </a:lnR>
                    <a:lnT w="9525">
                      <a:solidFill>
                        <a:srgbClr val="D5DEE5"/>
                      </a:solidFill>
                    </a:lnT>
                    <a:lnB w="9525">
                      <a:solidFill>
                        <a:srgbClr val="D5DEE5"/>
                      </a:solidFill>
                    </a:lnB>
                    <a:solidFill>
                      <a:srgbClr val="E6EEF2"/>
                    </a:solidFill>
                  </a:tcPr>
                </a:tc>
                <a:tc>
                  <a:txBody>
                    <a:bodyPr/>
                    <a:lstStyle/>
                    <a:p>
                      <a:r>
                        <a:rPr sz="1725" b="1">
                          <a:solidFill>
                            <a:srgbClr val="172C40"/>
                          </a:solidFill>
                          <a:latin typeface="Arial"/>
                          <a:ea typeface="Arial"/>
                          <a:cs typeface="Arial"/>
                        </a:rPr>
                        <a:t>Records</a:t>
                      </a:r>
                    </a:p>
                  </a:txBody>
                  <a:tcPr marL="91440" marR="91440" marT="45720" marB="45720">
                    <a:lnR w="9525">
                      <a:solidFill>
                        <a:srgbClr val="D5DEE5"/>
                      </a:solidFill>
                    </a:lnR>
                    <a:lnT w="9525">
                      <a:solidFill>
                        <a:srgbClr val="D5DEE5"/>
                      </a:solidFill>
                    </a:lnT>
                    <a:lnB w="9525">
                      <a:solidFill>
                        <a:srgbClr val="D5DEE5"/>
                      </a:solidFill>
                    </a:lnB>
                    <a:solidFill>
                      <a:srgbClr val="E6EEF2"/>
                    </a:solidFill>
                  </a:tcPr>
                </a:tc>
                <a:tc>
                  <a:txBody>
                    <a:bodyPr/>
                    <a:lstStyle/>
                    <a:p>
                      <a:r>
                        <a:rPr sz="1725" b="1">
                          <a:solidFill>
                            <a:srgbClr val="172C40"/>
                          </a:solidFill>
                          <a:latin typeface="Arial"/>
                          <a:ea typeface="Arial"/>
                          <a:cs typeface="Arial"/>
                        </a:rPr>
                        <a:t>Amount INR</a:t>
                      </a:r>
                    </a:p>
                  </a:txBody>
                  <a:tcPr marL="91440" marR="91440" marT="45720" marB="45720">
                    <a:lnR w="9525">
                      <a:solidFill>
                        <a:srgbClr val="D5DEE5"/>
                      </a:solidFill>
                    </a:lnR>
                    <a:lnT w="9525">
                      <a:solidFill>
                        <a:srgbClr val="D5DEE5"/>
                      </a:solidFill>
                    </a:lnT>
                    <a:lnB w="9525">
                      <a:solidFill>
                        <a:srgbClr val="D5DEE5"/>
                      </a:solidFill>
                    </a:lnB>
                    <a:solidFill>
                      <a:srgbClr val="E6EEF2"/>
                    </a:solidFill>
                  </a:tcPr>
                </a:tc>
              </a:tr>
              <a:tr h="590550">
                <a:tc>
                  <a:txBody>
                    <a:bodyPr/>
                    <a:lstStyle/>
                    <a:p>
                      <a:r>
                        <a:rPr sz="1725" b="0">
                          <a:solidFill>
                            <a:srgbClr val="172C40"/>
                          </a:solidFill>
                          <a:latin typeface="Arial"/>
                          <a:ea typeface="Arial"/>
                          <a:cs typeface="Arial"/>
                        </a:rPr>
                        <a:t>Delivered</a:t>
                      </a:r>
                    </a:p>
                  </a:txBody>
                  <a:tcPr marL="91440" marR="91440" marT="45720" marB="45720">
                    <a:lnL w="9525">
                      <a:solidFill>
                        <a:srgbClr val="D5DEE5"/>
                      </a:solidFill>
                    </a:lnL>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28,641</a:t>
                      </a:r>
                    </a:p>
                  </a:txBody>
                  <a:tcPr marL="91440" marR="91440" marT="45720" marB="45720">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19,710,544</a:t>
                      </a:r>
                    </a:p>
                  </a:txBody>
                  <a:tcPr marL="91440" marR="91440" marT="45720" marB="45720">
                    <a:lnR w="9525">
                      <a:solidFill>
                        <a:srgbClr val="D5DEE5"/>
                      </a:solidFill>
                    </a:lnR>
                    <a:lnB w="9525">
                      <a:solidFill>
                        <a:srgbClr val="D5DEE5"/>
                      </a:solidFill>
                    </a:lnB>
                    <a:solidFill>
                      <a:srgbClr val="FFFFFF"/>
                    </a:solidFill>
                  </a:tcPr>
                </a:tc>
              </a:tr>
              <a:tr h="590550">
                <a:tc>
                  <a:txBody>
                    <a:bodyPr/>
                    <a:lstStyle/>
                    <a:p>
                      <a:r>
                        <a:rPr sz="1725" b="0">
                          <a:solidFill>
                            <a:srgbClr val="172C40"/>
                          </a:solidFill>
                          <a:latin typeface="Arial"/>
                          <a:ea typeface="Arial"/>
                          <a:cs typeface="Arial"/>
                        </a:rPr>
                        <a:t>Cancelled</a:t>
                      </a:r>
                    </a:p>
                  </a:txBody>
                  <a:tcPr marL="91440" marR="91440" marT="45720" marB="45720">
                    <a:lnL w="9525">
                      <a:solidFill>
                        <a:srgbClr val="D5DEE5"/>
                      </a:solidFill>
                    </a:lnL>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844</a:t>
                      </a:r>
                    </a:p>
                  </a:txBody>
                  <a:tcPr marL="91440" marR="91440" marT="45720" marB="45720">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481,844</a:t>
                      </a:r>
                    </a:p>
                  </a:txBody>
                  <a:tcPr marL="91440" marR="91440" marT="45720" marB="45720">
                    <a:lnR w="9525">
                      <a:solidFill>
                        <a:srgbClr val="D5DEE5"/>
                      </a:solidFill>
                    </a:lnR>
                    <a:lnB w="9525">
                      <a:solidFill>
                        <a:srgbClr val="D5DEE5"/>
                      </a:solidFill>
                    </a:lnB>
                    <a:solidFill>
                      <a:srgbClr val="FFFFFF"/>
                    </a:solidFill>
                  </a:tcPr>
                </a:tc>
              </a:tr>
              <a:tr h="590550">
                <a:tc>
                  <a:txBody>
                    <a:bodyPr/>
                    <a:lstStyle/>
                    <a:p>
                      <a:r>
                        <a:rPr sz="1725" b="0">
                          <a:solidFill>
                            <a:srgbClr val="172C40"/>
                          </a:solidFill>
                          <a:latin typeface="Arial"/>
                          <a:ea typeface="Arial"/>
                          <a:cs typeface="Arial"/>
                        </a:rPr>
                        <a:t>Returned</a:t>
                      </a:r>
                    </a:p>
                  </a:txBody>
                  <a:tcPr marL="91440" marR="91440" marT="45720" marB="45720">
                    <a:lnL w="9525">
                      <a:solidFill>
                        <a:srgbClr val="D5DEE5"/>
                      </a:solidFill>
                    </a:lnL>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1,045</a:t>
                      </a:r>
                    </a:p>
                  </a:txBody>
                  <a:tcPr marL="91440" marR="91440" marT="45720" marB="45720">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719,147</a:t>
                      </a:r>
                    </a:p>
                  </a:txBody>
                  <a:tcPr marL="91440" marR="91440" marT="45720" marB="45720">
                    <a:lnR w="9525">
                      <a:solidFill>
                        <a:srgbClr val="D5DEE5"/>
                      </a:solidFill>
                    </a:lnR>
                    <a:lnB w="9525">
                      <a:solidFill>
                        <a:srgbClr val="D5DEE5"/>
                      </a:solidFill>
                    </a:lnB>
                    <a:solidFill>
                      <a:srgbClr val="FFFFFF"/>
                    </a:solidFill>
                  </a:tcPr>
                </a:tc>
              </a:tr>
              <a:tr h="590550">
                <a:tc>
                  <a:txBody>
                    <a:bodyPr/>
                    <a:lstStyle/>
                    <a:p>
                      <a:r>
                        <a:rPr sz="1725" b="0">
                          <a:solidFill>
                            <a:srgbClr val="172C40"/>
                          </a:solidFill>
                          <a:latin typeface="Arial"/>
                          <a:ea typeface="Arial"/>
                          <a:cs typeface="Arial"/>
                        </a:rPr>
                        <a:t>Refunded</a:t>
                      </a:r>
                    </a:p>
                  </a:txBody>
                  <a:tcPr marL="91440" marR="91440" marT="45720" marB="45720">
                    <a:lnL w="9525">
                      <a:solidFill>
                        <a:srgbClr val="D5DEE5"/>
                      </a:solidFill>
                    </a:lnL>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517</a:t>
                      </a:r>
                    </a:p>
                  </a:txBody>
                  <a:tcPr marL="91440" marR="91440" marT="45720" marB="45720">
                    <a:lnR w="9525">
                      <a:solidFill>
                        <a:srgbClr val="D5DEE5"/>
                      </a:solidFill>
                    </a:lnR>
                    <a:lnB w="9525">
                      <a:solidFill>
                        <a:srgbClr val="D5DEE5"/>
                      </a:solidFill>
                    </a:lnB>
                    <a:solidFill>
                      <a:srgbClr val="FFFFFF"/>
                    </a:solidFill>
                  </a:tcPr>
                </a:tc>
                <a:tc>
                  <a:txBody>
                    <a:bodyPr/>
                    <a:lstStyle/>
                    <a:p>
                      <a:r>
                        <a:rPr sz="1725" b="0">
                          <a:solidFill>
                            <a:srgbClr val="172C40"/>
                          </a:solidFill>
                          <a:latin typeface="Arial"/>
                          <a:ea typeface="Arial"/>
                          <a:cs typeface="Arial"/>
                        </a:rPr>
                        <a:t>264,842</a:t>
                      </a:r>
                    </a:p>
                  </a:txBody>
                  <a:tcPr marL="91440" marR="91440" marT="45720" marB="45720">
                    <a:lnR w="9525">
                      <a:solidFill>
                        <a:srgbClr val="D5DEE5"/>
                      </a:solidFill>
                    </a:lnR>
                    <a:lnB w="9525">
                      <a:solidFill>
                        <a:srgbClr val="D5DEE5"/>
                      </a:solidFill>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2D0C134-D822-41A3-8CE1-8F16E1CA2657}"/>
              </a:ext>
            </a:extLst>
          </p:cNvPr>
          <p:cNvSpPr>
            <a:spLocks xmlns:a="http://schemas.openxmlformats.org/drawingml/2006/main" noGrp="1"/>
          </p:cNvSpPr>
          <p:nvPr/>
        </p:nvSpPr>
        <p:spPr>
          <a:xfrm xmlns:a="http://schemas.openxmlformats.org/drawingml/2006/main">
            <a:off x="6191250" y="481012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Arial"/>
                <a:ea typeface="Arial"/>
                <a:cs typeface="Arial"/>
              </a:defRPr>
            </a:defPPr>
            <a:lvl1pPr>
              <a:defRPr sz="1875" b="0">
                <a:solidFill>
                  <a:srgbClr val="172C40"/>
                </a:solidFill>
                <a:latin typeface="Arial"/>
                <a:ea typeface="Arial"/>
                <a:cs typeface="Arial"/>
              </a:defRPr>
            </a:lvl1pPr>
            <a:lvl2pPr>
              <a:defRPr sz="1875" b="0">
                <a:solidFill>
                  <a:srgbClr val="172C40"/>
                </a:solidFill>
                <a:latin typeface="Arial"/>
                <a:ea typeface="Arial"/>
                <a:cs typeface="Arial"/>
              </a:defRPr>
            </a:lvl2pPr>
            <a:lvl3pPr>
              <a:defRPr sz="1875" b="0">
                <a:solidFill>
                  <a:srgbClr val="172C40"/>
                </a:solidFill>
                <a:latin typeface="Arial"/>
                <a:ea typeface="Arial"/>
                <a:cs typeface="Arial"/>
              </a:defRPr>
            </a:lvl3pPr>
            <a:lvl4pPr>
              <a:defRPr sz="1875" b="0">
                <a:solidFill>
                  <a:srgbClr val="172C40"/>
                </a:solidFill>
                <a:latin typeface="Arial"/>
                <a:ea typeface="Arial"/>
                <a:cs typeface="Arial"/>
              </a:defRPr>
            </a:lvl4pPr>
            <a:lvl5pPr>
              <a:defRPr sz="1875" b="0">
                <a:solidFill>
                  <a:srgbClr val="172C40"/>
                </a:solidFill>
                <a:latin typeface="Arial"/>
                <a:ea typeface="Arial"/>
                <a:cs typeface="Arial"/>
              </a:defRPr>
            </a:lvl5pPr>
            <a:lvl6pPr>
              <a:defRPr sz="1875" b="0">
                <a:solidFill>
                  <a:srgbClr val="172C40"/>
                </a:solidFill>
                <a:latin typeface="Arial"/>
                <a:ea typeface="Arial"/>
                <a:cs typeface="Arial"/>
              </a:defRPr>
            </a:lvl6pPr>
            <a:lvl7pPr>
              <a:defRPr sz="1875" b="0">
                <a:solidFill>
                  <a:srgbClr val="172C40"/>
                </a:solidFill>
                <a:latin typeface="Arial"/>
                <a:ea typeface="Arial"/>
                <a:cs typeface="Arial"/>
              </a:defRPr>
            </a:lvl7pPr>
            <a:lvl8pPr>
              <a:defRPr sz="1875" b="0">
                <a:solidFill>
                  <a:srgbClr val="172C40"/>
                </a:solidFill>
                <a:latin typeface="Arial"/>
                <a:ea typeface="Arial"/>
                <a:cs typeface="Arial"/>
              </a:defRPr>
            </a:lvl8pPr>
            <a:lvl9pPr>
              <a:defRPr sz="1875" b="0">
                <a:solidFill>
                  <a:srgbClr val="172C40"/>
                </a:solidFill>
                <a:latin typeface="Arial"/>
                <a:ea typeface="Arial"/>
                <a:cs typeface="Arial"/>
              </a:defRPr>
            </a:lvl9pPr>
          </a:lstStyle>
          <a:p xmlns:a="http://schemas.openxmlformats.org/drawingml/2006/main">
            <a:pPr>
              <a:defRPr sz="1875" b="0">
                <a:solidFill>
                  <a:srgbClr val="172C40"/>
                </a:solidFill>
                <a:latin typeface="Arial"/>
                <a:ea typeface="Arial"/>
                <a:cs typeface="Arial"/>
              </a:defRPr>
            </a:pPr>
            <a:r>
              <a:rPr sz="1875" b="0">
                <a:solidFill>
                  <a:srgbClr val="172C40"/>
                </a:solidFill>
                <a:latin typeface="Arial"/>
                <a:ea typeface="Arial"/>
                <a:cs typeface="Arial"/>
              </a:rPr>
              <a:t>INR 1,465,833 appears under non-delivered statuses. This is not a verified loss measure.</a:t>
            </a:r>
          </a:p>
        </p:txBody>
      </p:sp>
      <p:sp>
        <p:nvSpPr>
          <p:cNvPr id="10" name="">
            <a:extLst xmlns:a="http://schemas.openxmlformats.org/drawingml/2006/main">
              <a:ext uri="{FF2B5EF4-FFF2-40B4-BE49-F238E27FC236}">
                <a16:creationId xmlns:a16="http://schemas.microsoft.com/office/drawing/2014/main" id="{11ED003E-29E8-4EC8-B2C9-6526A54F10C8}"/>
              </a:ext>
            </a:extLst>
          </p:cNvPr>
          <p:cNvSpPr>
            <a:spLocks xmlns:a="http://schemas.openxmlformats.org/drawingml/2006/main" noGrp="1"/>
          </p:cNvSpPr>
          <p:nvPr/>
        </p:nvSpPr>
        <p:spPr>
          <a:xfrm xmlns:a="http://schemas.openxmlformats.org/drawingml/2006/main">
            <a:off x="571500" y="6029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474"/>
                </a:solidFill>
                <a:latin typeface="Arial"/>
                <a:ea typeface="Arial"/>
                <a:cs typeface="Arial"/>
              </a:defRPr>
            </a:defPPr>
            <a:lvl1pPr>
              <a:defRPr sz="1725" b="0">
                <a:solidFill>
                  <a:srgbClr val="516474"/>
                </a:solidFill>
                <a:latin typeface="Arial"/>
                <a:ea typeface="Arial"/>
                <a:cs typeface="Arial"/>
              </a:defRPr>
            </a:lvl1pPr>
            <a:lvl2pPr>
              <a:defRPr sz="1725" b="0">
                <a:solidFill>
                  <a:srgbClr val="516474"/>
                </a:solidFill>
                <a:latin typeface="Arial"/>
                <a:ea typeface="Arial"/>
                <a:cs typeface="Arial"/>
              </a:defRPr>
            </a:lvl2pPr>
            <a:lvl3pPr>
              <a:defRPr sz="1725" b="0">
                <a:solidFill>
                  <a:srgbClr val="516474"/>
                </a:solidFill>
                <a:latin typeface="Arial"/>
                <a:ea typeface="Arial"/>
                <a:cs typeface="Arial"/>
              </a:defRPr>
            </a:lvl3pPr>
            <a:lvl4pPr>
              <a:defRPr sz="1725" b="0">
                <a:solidFill>
                  <a:srgbClr val="516474"/>
                </a:solidFill>
                <a:latin typeface="Arial"/>
                <a:ea typeface="Arial"/>
                <a:cs typeface="Arial"/>
              </a:defRPr>
            </a:lvl4pPr>
            <a:lvl5pPr>
              <a:defRPr sz="1725" b="0">
                <a:solidFill>
                  <a:srgbClr val="516474"/>
                </a:solidFill>
                <a:latin typeface="Arial"/>
                <a:ea typeface="Arial"/>
                <a:cs typeface="Arial"/>
              </a:defRPr>
            </a:lvl5pPr>
            <a:lvl6pPr>
              <a:defRPr sz="1725" b="0">
                <a:solidFill>
                  <a:srgbClr val="516474"/>
                </a:solidFill>
                <a:latin typeface="Arial"/>
                <a:ea typeface="Arial"/>
                <a:cs typeface="Arial"/>
              </a:defRPr>
            </a:lvl6pPr>
            <a:lvl7pPr>
              <a:defRPr sz="1725" b="0">
                <a:solidFill>
                  <a:srgbClr val="516474"/>
                </a:solidFill>
                <a:latin typeface="Arial"/>
                <a:ea typeface="Arial"/>
                <a:cs typeface="Arial"/>
              </a:defRPr>
            </a:lvl7pPr>
            <a:lvl8pPr>
              <a:defRPr sz="1725" b="0">
                <a:solidFill>
                  <a:srgbClr val="516474"/>
                </a:solidFill>
                <a:latin typeface="Arial"/>
                <a:ea typeface="Arial"/>
                <a:cs typeface="Arial"/>
              </a:defRPr>
            </a:lvl8pPr>
            <a:lvl9pPr>
              <a:defRPr sz="1725" b="0">
                <a:solidFill>
                  <a:srgbClr val="516474"/>
                </a:solidFill>
                <a:latin typeface="Arial"/>
                <a:ea typeface="Arial"/>
                <a:cs typeface="Arial"/>
              </a:defRPr>
            </a:lvl9pPr>
          </a:lstStyle>
          <a:p xmlns:a="http://schemas.openxmlformats.org/drawingml/2006/main">
            <a:pPr>
              <a:defRPr sz="1725" b="0">
                <a:solidFill>
                  <a:srgbClr val="516474"/>
                </a:solidFill>
                <a:latin typeface="Arial"/>
                <a:ea typeface="Arial"/>
                <a:cs typeface="Arial"/>
              </a:defRPr>
            </a:pPr>
            <a:r>
              <a:rPr sz="1725" b="0">
                <a:solidFill>
                  <a:srgbClr val="516474"/>
                </a:solidFill>
                <a:latin typeface="Arial"/>
                <a:ea typeface="Arial"/>
                <a:cs typeface="Arial"/>
              </a:rPr>
              <a:t>Monthly comparisons describe this sample, not recurring seasonality.</a:t>
            </a:r>
          </a:p>
        </p:txBody>
      </p:sp>
    </p:spTree>
    <p:extLst>
      <p:ext uri="{BB962C8B-B14F-4D97-AF65-F5344CB8AC3E}">
        <p14:creationId xmlns:p14="http://schemas.microsoft.com/office/powerpoint/2010/main" val="355314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AA5F3E-C508-4600-A57E-57B950191271}"/>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0"/>
                </a:solidFill>
                <a:latin typeface="Arial"/>
                <a:ea typeface="Arial"/>
                <a:cs typeface="Arial"/>
              </a:defRPr>
            </a:defPPr>
            <a:lvl1pPr>
              <a:defRPr sz="3150" b="1">
                <a:solidFill>
                  <a:srgbClr val="172C40"/>
                </a:solidFill>
                <a:latin typeface="Arial"/>
                <a:ea typeface="Arial"/>
                <a:cs typeface="Arial"/>
              </a:defRPr>
            </a:lvl1pPr>
            <a:lvl2pPr>
              <a:defRPr sz="3150" b="1">
                <a:solidFill>
                  <a:srgbClr val="172C40"/>
                </a:solidFill>
                <a:latin typeface="Arial"/>
                <a:ea typeface="Arial"/>
                <a:cs typeface="Arial"/>
              </a:defRPr>
            </a:lvl2pPr>
            <a:lvl3pPr>
              <a:defRPr sz="3150" b="1">
                <a:solidFill>
                  <a:srgbClr val="172C40"/>
                </a:solidFill>
                <a:latin typeface="Arial"/>
                <a:ea typeface="Arial"/>
                <a:cs typeface="Arial"/>
              </a:defRPr>
            </a:lvl3pPr>
            <a:lvl4pPr>
              <a:defRPr sz="3150" b="1">
                <a:solidFill>
                  <a:srgbClr val="172C40"/>
                </a:solidFill>
                <a:latin typeface="Arial"/>
                <a:ea typeface="Arial"/>
                <a:cs typeface="Arial"/>
              </a:defRPr>
            </a:lvl4pPr>
            <a:lvl5pPr>
              <a:defRPr sz="3150" b="1">
                <a:solidFill>
                  <a:srgbClr val="172C40"/>
                </a:solidFill>
                <a:latin typeface="Arial"/>
                <a:ea typeface="Arial"/>
                <a:cs typeface="Arial"/>
              </a:defRPr>
            </a:lvl5pPr>
            <a:lvl6pPr>
              <a:defRPr sz="3150" b="1">
                <a:solidFill>
                  <a:srgbClr val="172C40"/>
                </a:solidFill>
                <a:latin typeface="Arial"/>
                <a:ea typeface="Arial"/>
                <a:cs typeface="Arial"/>
              </a:defRPr>
            </a:lvl6pPr>
            <a:lvl7pPr>
              <a:defRPr sz="3150" b="1">
                <a:solidFill>
                  <a:srgbClr val="172C40"/>
                </a:solidFill>
                <a:latin typeface="Arial"/>
                <a:ea typeface="Arial"/>
                <a:cs typeface="Arial"/>
              </a:defRPr>
            </a:lvl7pPr>
            <a:lvl8pPr>
              <a:defRPr sz="3150" b="1">
                <a:solidFill>
                  <a:srgbClr val="172C40"/>
                </a:solidFill>
                <a:latin typeface="Arial"/>
                <a:ea typeface="Arial"/>
                <a:cs typeface="Arial"/>
              </a:defRPr>
            </a:lvl8pPr>
            <a:lvl9pPr>
              <a:defRPr sz="3150" b="1">
                <a:solidFill>
                  <a:srgbClr val="172C40"/>
                </a:solidFill>
                <a:latin typeface="Arial"/>
                <a:ea typeface="Arial"/>
                <a:cs typeface="Arial"/>
              </a:defRPr>
            </a:lvl9pPr>
          </a:lstStyle>
          <a:p xmlns:a="http://schemas.openxmlformats.org/drawingml/2006/main">
            <a:pPr>
              <a:defRPr sz="3150" b="1">
                <a:solidFill>
                  <a:srgbClr val="172C40"/>
                </a:solidFill>
                <a:latin typeface="Arial"/>
                <a:ea typeface="Arial"/>
                <a:cs typeface="Arial"/>
              </a:defRPr>
            </a:pPr>
            <a:r>
              <a:rPr sz="3150" b="1">
                <a:solidFill>
                  <a:srgbClr val="172C40"/>
                </a:solidFill>
                <a:latin typeface="Arial"/>
                <a:ea typeface="Arial"/>
                <a:cs typeface="Arial"/>
              </a:rPr>
              <a:t>Recommendations and limits</a:t>
            </a:r>
          </a:p>
        </p:txBody>
      </p:sp>
      <p:sp>
        <p:nvSpPr>
          <p:cNvPr id="2" name="">
            <a:extLst xmlns:a="http://schemas.openxmlformats.org/drawingml/2006/main">
              <a:ext uri="{FF2B5EF4-FFF2-40B4-BE49-F238E27FC236}">
                <a16:creationId xmlns:a16="http://schemas.microsoft.com/office/drawing/2014/main" id="{9C7F8170-F78A-4AB0-8BB4-1946C32E92B7}"/>
              </a:ext>
            </a:extLst>
          </p:cNvPr>
          <p:cNvSpPr>
            <a:spLocks xmlns:a="http://schemas.openxmlformats.org/drawingml/2006/main" noGrp="1"/>
          </p:cNvSpPr>
          <p:nvPr/>
        </p:nvSpPr>
        <p:spPr>
          <a:xfrm xmlns:a="http://schemas.openxmlformats.org/drawingml/2006/main">
            <a:off x="5715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Vrinda Store analysis</a:t>
            </a:r>
          </a:p>
        </p:txBody>
      </p:sp>
      <p:sp>
        <p:nvSpPr>
          <p:cNvPr id="3" name="">
            <a:extLst xmlns:a="http://schemas.openxmlformats.org/drawingml/2006/main">
              <a:ext uri="{FF2B5EF4-FFF2-40B4-BE49-F238E27FC236}">
                <a16:creationId xmlns:a16="http://schemas.microsoft.com/office/drawing/2014/main" id="{A0637EF2-DA65-44B2-BE6F-F551E7B73AD1}"/>
              </a:ext>
            </a:extLst>
          </p:cNvPr>
          <p:cNvSpPr>
            <a:spLocks xmlns:a="http://schemas.openxmlformats.org/drawingml/2006/main" noGrp="1"/>
          </p:cNvSpPr>
          <p:nvPr/>
        </p:nvSpPr>
        <p:spPr>
          <a:xfrm xmlns:a="http://schemas.openxmlformats.org/drawingml/2006/main">
            <a:off x="11287125" y="64960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16474"/>
                </a:solidFill>
                <a:latin typeface="Arial"/>
                <a:ea typeface="Arial"/>
                <a:cs typeface="Arial"/>
              </a:defRPr>
            </a:defPPr>
            <a:lvl1pPr>
              <a:defRPr sz="1125" b="0">
                <a:solidFill>
                  <a:srgbClr val="516474"/>
                </a:solidFill>
                <a:latin typeface="Arial"/>
                <a:ea typeface="Arial"/>
                <a:cs typeface="Arial"/>
              </a:defRPr>
            </a:lvl1pPr>
            <a:lvl2pPr>
              <a:defRPr sz="1125" b="0">
                <a:solidFill>
                  <a:srgbClr val="516474"/>
                </a:solidFill>
                <a:latin typeface="Arial"/>
                <a:ea typeface="Arial"/>
                <a:cs typeface="Arial"/>
              </a:defRPr>
            </a:lvl2pPr>
            <a:lvl3pPr>
              <a:defRPr sz="1125" b="0">
                <a:solidFill>
                  <a:srgbClr val="516474"/>
                </a:solidFill>
                <a:latin typeface="Arial"/>
                <a:ea typeface="Arial"/>
                <a:cs typeface="Arial"/>
              </a:defRPr>
            </a:lvl3pPr>
            <a:lvl4pPr>
              <a:defRPr sz="1125" b="0">
                <a:solidFill>
                  <a:srgbClr val="516474"/>
                </a:solidFill>
                <a:latin typeface="Arial"/>
                <a:ea typeface="Arial"/>
                <a:cs typeface="Arial"/>
              </a:defRPr>
            </a:lvl4pPr>
            <a:lvl5pPr>
              <a:defRPr sz="1125" b="0">
                <a:solidFill>
                  <a:srgbClr val="516474"/>
                </a:solidFill>
                <a:latin typeface="Arial"/>
                <a:ea typeface="Arial"/>
                <a:cs typeface="Arial"/>
              </a:defRPr>
            </a:lvl5pPr>
            <a:lvl6pPr>
              <a:defRPr sz="1125" b="0">
                <a:solidFill>
                  <a:srgbClr val="516474"/>
                </a:solidFill>
                <a:latin typeface="Arial"/>
                <a:ea typeface="Arial"/>
                <a:cs typeface="Arial"/>
              </a:defRPr>
            </a:lvl6pPr>
            <a:lvl7pPr>
              <a:defRPr sz="1125" b="0">
                <a:solidFill>
                  <a:srgbClr val="516474"/>
                </a:solidFill>
                <a:latin typeface="Arial"/>
                <a:ea typeface="Arial"/>
                <a:cs typeface="Arial"/>
              </a:defRPr>
            </a:lvl7pPr>
            <a:lvl8pPr>
              <a:defRPr sz="1125" b="0">
                <a:solidFill>
                  <a:srgbClr val="516474"/>
                </a:solidFill>
                <a:latin typeface="Arial"/>
                <a:ea typeface="Arial"/>
                <a:cs typeface="Arial"/>
              </a:defRPr>
            </a:lvl8pPr>
            <a:lvl9pPr>
              <a:defRPr sz="1125" b="0">
                <a:solidFill>
                  <a:srgbClr val="516474"/>
                </a:solidFill>
                <a:latin typeface="Arial"/>
                <a:ea typeface="Arial"/>
                <a:cs typeface="Arial"/>
              </a:defRPr>
            </a:lvl9pPr>
          </a:lstStyle>
          <a:p xmlns:a="http://schemas.openxmlformats.org/drawingml/2006/main">
            <a:pPr>
              <a:defRPr sz="1125" b="0">
                <a:solidFill>
                  <a:srgbClr val="516474"/>
                </a:solidFill>
                <a:latin typeface="Arial"/>
                <a:ea typeface="Arial"/>
                <a:cs typeface="Arial"/>
              </a:defRPr>
            </a:pPr>
            <a:r>
              <a:rPr sz="1125" b="0">
                <a:solidFill>
                  <a:srgbClr val="516474"/>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FB3B1622-1014-41AD-ABB9-F6EFAAFDC0CE}"/>
              </a:ext>
            </a:extLst>
          </p:cNvPr>
          <p:cNvSpPr>
            <a:spLocks xmlns:a="http://schemas.openxmlformats.org/drawingml/2006/main" noGrp="1"/>
          </p:cNvSpPr>
          <p:nvPr/>
        </p:nvSpPr>
        <p:spPr>
          <a:xfrm xmlns:a="http://schemas.openxmlformats.org/drawingml/2006/main">
            <a:off x="571500" y="14763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Proposed business follow-up</a:t>
            </a:r>
          </a:p>
        </p:txBody>
      </p:sp>
      <p:sp>
        <p:nvSpPr>
          <p:cNvPr id="5" name="">
            <a:extLst xmlns:a="http://schemas.openxmlformats.org/drawingml/2006/main">
              <a:ext uri="{FF2B5EF4-FFF2-40B4-BE49-F238E27FC236}">
                <a16:creationId xmlns:a16="http://schemas.microsoft.com/office/drawing/2014/main" id="{AA8055C3-029D-4200-A8DB-8E4FF11048E5}"/>
              </a:ext>
            </a:extLst>
          </p:cNvPr>
          <p:cNvSpPr>
            <a:spLocks xmlns:a="http://schemas.openxmlformats.org/drawingml/2006/main" noGrp="1"/>
          </p:cNvSpPr>
          <p:nvPr/>
        </p:nvSpPr>
        <p:spPr>
          <a:xfrm xmlns:a="http://schemas.openxmlformats.org/drawingml/2006/main">
            <a:off x="571500" y="2266950"/>
            <a:ext cx="5238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C40"/>
                </a:solidFill>
                <a:latin typeface="Arial"/>
                <a:ea typeface="Arial"/>
                <a:cs typeface="Arial"/>
              </a:defRPr>
            </a:defPPr>
            <a:lvl1pPr>
              <a:defRPr sz="2100" b="0">
                <a:solidFill>
                  <a:srgbClr val="172C40"/>
                </a:solidFill>
                <a:latin typeface="Arial"/>
                <a:ea typeface="Arial"/>
                <a:cs typeface="Arial"/>
              </a:defRPr>
            </a:lvl1pPr>
            <a:lvl2pPr>
              <a:defRPr sz="2100" b="0">
                <a:solidFill>
                  <a:srgbClr val="172C40"/>
                </a:solidFill>
                <a:latin typeface="Arial"/>
                <a:ea typeface="Arial"/>
                <a:cs typeface="Arial"/>
              </a:defRPr>
            </a:lvl2pPr>
            <a:lvl3pPr>
              <a:defRPr sz="2100" b="0">
                <a:solidFill>
                  <a:srgbClr val="172C40"/>
                </a:solidFill>
                <a:latin typeface="Arial"/>
                <a:ea typeface="Arial"/>
                <a:cs typeface="Arial"/>
              </a:defRPr>
            </a:lvl3pPr>
            <a:lvl4pPr>
              <a:defRPr sz="2100" b="0">
                <a:solidFill>
                  <a:srgbClr val="172C40"/>
                </a:solidFill>
                <a:latin typeface="Arial"/>
                <a:ea typeface="Arial"/>
                <a:cs typeface="Arial"/>
              </a:defRPr>
            </a:lvl4pPr>
            <a:lvl5pPr>
              <a:defRPr sz="2100" b="0">
                <a:solidFill>
                  <a:srgbClr val="172C40"/>
                </a:solidFill>
                <a:latin typeface="Arial"/>
                <a:ea typeface="Arial"/>
                <a:cs typeface="Arial"/>
              </a:defRPr>
            </a:lvl5pPr>
            <a:lvl6pPr>
              <a:defRPr sz="2100" b="0">
                <a:solidFill>
                  <a:srgbClr val="172C40"/>
                </a:solidFill>
                <a:latin typeface="Arial"/>
                <a:ea typeface="Arial"/>
                <a:cs typeface="Arial"/>
              </a:defRPr>
            </a:lvl6pPr>
            <a:lvl7pPr>
              <a:defRPr sz="2100" b="0">
                <a:solidFill>
                  <a:srgbClr val="172C40"/>
                </a:solidFill>
                <a:latin typeface="Arial"/>
                <a:ea typeface="Arial"/>
                <a:cs typeface="Arial"/>
              </a:defRPr>
            </a:lvl7pPr>
            <a:lvl8pPr>
              <a:defRPr sz="2100" b="0">
                <a:solidFill>
                  <a:srgbClr val="172C40"/>
                </a:solidFill>
                <a:latin typeface="Arial"/>
                <a:ea typeface="Arial"/>
                <a:cs typeface="Arial"/>
              </a:defRPr>
            </a:lvl8pPr>
            <a:lvl9pPr>
              <a:defRPr sz="2100" b="0">
                <a:solidFill>
                  <a:srgbClr val="172C40"/>
                </a:solidFill>
                <a:latin typeface="Arial"/>
                <a:ea typeface="Arial"/>
                <a:cs typeface="Arial"/>
              </a:defRPr>
            </a:lvl9pPr>
          </a:lstStyle>
          <a:p xmlns:a="http://schemas.openxmlformats.org/drawingml/2006/main">
            <a:pPr>
              <a:defRPr sz="2100" b="0">
                <a:solidFill>
                  <a:srgbClr val="172C40"/>
                </a:solidFill>
                <a:latin typeface="Arial"/>
                <a:ea typeface="Arial"/>
                <a:cs typeface="Arial"/>
              </a:defRPr>
            </a:pPr>
            <a:r>
              <a:rPr sz="2100" b="0">
                <a:solidFill>
                  <a:srgbClr val="172C40"/>
                </a:solidFill>
                <a:latin typeface="Arial"/>
                <a:ea typeface="Arial"/>
                <a:cs typeface="Arial"/>
              </a:rPr>
              <a:t>Review merchandising on the largest channels with cost and margin data.</a:t>
            </a:r>
          </a:p>
          <a:p xmlns:a="http://schemas.openxmlformats.org/drawingml/2006/main">
            <a:r>
              <a:t/>
            </a:r>
          </a:p>
          <a:p xmlns:a="http://schemas.openxmlformats.org/drawingml/2006/main">
            <a:pPr>
              <a:defRPr sz="2100" b="0">
                <a:solidFill>
                  <a:srgbClr val="172C40"/>
                </a:solidFill>
                <a:latin typeface="Arial"/>
                <a:ea typeface="Arial"/>
                <a:cs typeface="Arial"/>
              </a:defRPr>
            </a:pPr>
            <a:r>
              <a:rPr sz="2100" b="0">
                <a:solidFill>
                  <a:srgbClr val="172C40"/>
                </a:solidFill>
                <a:latin typeface="Arial"/>
                <a:ea typeface="Arial"/>
                <a:cs typeface="Arial"/>
              </a:rPr>
              <a:t>Investigate non-delivered activity using reason codes and order histories.</a:t>
            </a:r>
          </a:p>
        </p:txBody>
      </p:sp>
      <p:sp>
        <p:nvSpPr>
          <p:cNvPr id="6" name="">
            <a:extLst xmlns:a="http://schemas.openxmlformats.org/drawingml/2006/main">
              <a:ext uri="{FF2B5EF4-FFF2-40B4-BE49-F238E27FC236}">
                <a16:creationId xmlns:a16="http://schemas.microsoft.com/office/drawing/2014/main" id="{7523F11E-F97D-4213-A10B-B5852AB015B6}"/>
              </a:ext>
            </a:extLst>
          </p:cNvPr>
          <p:cNvSpPr>
            <a:spLocks xmlns:a="http://schemas.openxmlformats.org/drawingml/2006/main" noGrp="1"/>
          </p:cNvSpPr>
          <p:nvPr/>
        </p:nvSpPr>
        <p:spPr>
          <a:xfrm xmlns:a="http://schemas.openxmlformats.org/drawingml/2006/main">
            <a:off x="6572250" y="1476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Data owner priorities</a:t>
            </a:r>
          </a:p>
        </p:txBody>
      </p:sp>
      <p:sp>
        <p:nvSpPr>
          <p:cNvPr id="7" name="">
            <a:extLst xmlns:a="http://schemas.openxmlformats.org/drawingml/2006/main">
              <a:ext uri="{FF2B5EF4-FFF2-40B4-BE49-F238E27FC236}">
                <a16:creationId xmlns:a16="http://schemas.microsoft.com/office/drawing/2014/main" id="{D8FF318A-620A-4E7D-86DE-2C0305587FD3}"/>
              </a:ext>
            </a:extLst>
          </p:cNvPr>
          <p:cNvSpPr>
            <a:spLocks xmlns:a="http://schemas.openxmlformats.org/drawingml/2006/main" noGrp="1"/>
          </p:cNvSpPr>
          <p:nvPr/>
        </p:nvSpPr>
        <p:spPr>
          <a:xfrm xmlns:a="http://schemas.openxmlformats.org/drawingml/2006/main">
            <a:off x="6572250" y="2266950"/>
            <a:ext cx="5048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C40"/>
                </a:solidFill>
                <a:latin typeface="Arial"/>
                <a:ea typeface="Arial"/>
                <a:cs typeface="Arial"/>
              </a:defRPr>
            </a:defPPr>
            <a:lvl1pPr>
              <a:defRPr sz="2100" b="0">
                <a:solidFill>
                  <a:srgbClr val="172C40"/>
                </a:solidFill>
                <a:latin typeface="Arial"/>
                <a:ea typeface="Arial"/>
                <a:cs typeface="Arial"/>
              </a:defRPr>
            </a:lvl1pPr>
            <a:lvl2pPr>
              <a:defRPr sz="2100" b="0">
                <a:solidFill>
                  <a:srgbClr val="172C40"/>
                </a:solidFill>
                <a:latin typeface="Arial"/>
                <a:ea typeface="Arial"/>
                <a:cs typeface="Arial"/>
              </a:defRPr>
            </a:lvl2pPr>
            <a:lvl3pPr>
              <a:defRPr sz="2100" b="0">
                <a:solidFill>
                  <a:srgbClr val="172C40"/>
                </a:solidFill>
                <a:latin typeface="Arial"/>
                <a:ea typeface="Arial"/>
                <a:cs typeface="Arial"/>
              </a:defRPr>
            </a:lvl3pPr>
            <a:lvl4pPr>
              <a:defRPr sz="2100" b="0">
                <a:solidFill>
                  <a:srgbClr val="172C40"/>
                </a:solidFill>
                <a:latin typeface="Arial"/>
                <a:ea typeface="Arial"/>
                <a:cs typeface="Arial"/>
              </a:defRPr>
            </a:lvl4pPr>
            <a:lvl5pPr>
              <a:defRPr sz="2100" b="0">
                <a:solidFill>
                  <a:srgbClr val="172C40"/>
                </a:solidFill>
                <a:latin typeface="Arial"/>
                <a:ea typeface="Arial"/>
                <a:cs typeface="Arial"/>
              </a:defRPr>
            </a:lvl5pPr>
            <a:lvl6pPr>
              <a:defRPr sz="2100" b="0">
                <a:solidFill>
                  <a:srgbClr val="172C40"/>
                </a:solidFill>
                <a:latin typeface="Arial"/>
                <a:ea typeface="Arial"/>
                <a:cs typeface="Arial"/>
              </a:defRPr>
            </a:lvl6pPr>
            <a:lvl7pPr>
              <a:defRPr sz="2100" b="0">
                <a:solidFill>
                  <a:srgbClr val="172C40"/>
                </a:solidFill>
                <a:latin typeface="Arial"/>
                <a:ea typeface="Arial"/>
                <a:cs typeface="Arial"/>
              </a:defRPr>
            </a:lvl7pPr>
            <a:lvl8pPr>
              <a:defRPr sz="2100" b="0">
                <a:solidFill>
                  <a:srgbClr val="172C40"/>
                </a:solidFill>
                <a:latin typeface="Arial"/>
                <a:ea typeface="Arial"/>
                <a:cs typeface="Arial"/>
              </a:defRPr>
            </a:lvl8pPr>
            <a:lvl9pPr>
              <a:defRPr sz="2100" b="0">
                <a:solidFill>
                  <a:srgbClr val="172C40"/>
                </a:solidFill>
                <a:latin typeface="Arial"/>
                <a:ea typeface="Arial"/>
                <a:cs typeface="Arial"/>
              </a:defRPr>
            </a:lvl9pPr>
          </a:lstStyle>
          <a:p xmlns:a="http://schemas.openxmlformats.org/drawingml/2006/main">
            <a:pPr>
              <a:defRPr sz="2100" b="0">
                <a:solidFill>
                  <a:srgbClr val="172C40"/>
                </a:solidFill>
                <a:latin typeface="Arial"/>
                <a:ea typeface="Arial"/>
                <a:cs typeface="Arial"/>
              </a:defRPr>
            </a:pPr>
            <a:r>
              <a:rPr sz="2100" b="0">
                <a:solidFill>
                  <a:srgbClr val="172C40"/>
                </a:solidFill>
                <a:latin typeface="Arial"/>
                <a:ea typeface="Arial"/>
                <a:cs typeface="Arial"/>
              </a:rPr>
              <a:t>Clarify repeated Order IDs and row-level amounts.</a:t>
            </a:r>
          </a:p>
          <a:p xmlns:a="http://schemas.openxmlformats.org/drawingml/2006/main">
            <a:r>
              <a:t/>
            </a:r>
          </a:p>
          <a:p xmlns:a="http://schemas.openxmlformats.org/drawingml/2006/main">
            <a:pPr>
              <a:defRPr sz="2100" b="0">
                <a:solidFill>
                  <a:srgbClr val="172C40"/>
                </a:solidFill>
                <a:latin typeface="Arial"/>
                <a:ea typeface="Arial"/>
                <a:cs typeface="Arial"/>
              </a:defRPr>
            </a:pPr>
            <a:r>
              <a:rPr sz="2100" b="0">
                <a:solidFill>
                  <a:srgbClr val="172C40"/>
                </a:solidFill>
                <a:latin typeface="Arial"/>
                <a:ea typeface="Arial"/>
                <a:cs typeface="Arial"/>
              </a:rPr>
              <a:t>Standardise state names, including DELHI and New Delhi.</a:t>
            </a:r>
          </a:p>
        </p:txBody>
      </p:sp>
      <p:sp>
        <p:nvSpPr>
          <p:cNvPr id="8" name="">
            <a:extLst xmlns:a="http://schemas.openxmlformats.org/drawingml/2006/main">
              <a:ext uri="{FF2B5EF4-FFF2-40B4-BE49-F238E27FC236}">
                <a16:creationId xmlns:a16="http://schemas.microsoft.com/office/drawing/2014/main" id="{28D3DB05-C8EF-445B-ABF4-736D732D91A2}"/>
              </a:ext>
            </a:extLst>
          </p:cNvPr>
          <p:cNvSpPr>
            <a:spLocks xmlns:a="http://schemas.openxmlformats.org/drawingml/2006/main" noGrp="1"/>
          </p:cNvSpPr>
          <p:nvPr/>
        </p:nvSpPr>
        <p:spPr>
          <a:xfrm xmlns:a="http://schemas.openxmlformats.org/drawingml/2006/main">
            <a:off x="571500" y="54292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C40"/>
                </a:solidFill>
                <a:latin typeface="Arial"/>
                <a:ea typeface="Arial"/>
                <a:cs typeface="Arial"/>
              </a:defRPr>
            </a:defPPr>
            <a:lvl1pPr>
              <a:defRPr sz="2025" b="1">
                <a:solidFill>
                  <a:srgbClr val="172C40"/>
                </a:solidFill>
                <a:latin typeface="Arial"/>
                <a:ea typeface="Arial"/>
                <a:cs typeface="Arial"/>
              </a:defRPr>
            </a:lvl1pPr>
            <a:lvl2pPr>
              <a:defRPr sz="2025" b="1">
                <a:solidFill>
                  <a:srgbClr val="172C40"/>
                </a:solidFill>
                <a:latin typeface="Arial"/>
                <a:ea typeface="Arial"/>
                <a:cs typeface="Arial"/>
              </a:defRPr>
            </a:lvl2pPr>
            <a:lvl3pPr>
              <a:defRPr sz="2025" b="1">
                <a:solidFill>
                  <a:srgbClr val="172C40"/>
                </a:solidFill>
                <a:latin typeface="Arial"/>
                <a:ea typeface="Arial"/>
                <a:cs typeface="Arial"/>
              </a:defRPr>
            </a:lvl3pPr>
            <a:lvl4pPr>
              <a:defRPr sz="2025" b="1">
                <a:solidFill>
                  <a:srgbClr val="172C40"/>
                </a:solidFill>
                <a:latin typeface="Arial"/>
                <a:ea typeface="Arial"/>
                <a:cs typeface="Arial"/>
              </a:defRPr>
            </a:lvl4pPr>
            <a:lvl5pPr>
              <a:defRPr sz="2025" b="1">
                <a:solidFill>
                  <a:srgbClr val="172C40"/>
                </a:solidFill>
                <a:latin typeface="Arial"/>
                <a:ea typeface="Arial"/>
                <a:cs typeface="Arial"/>
              </a:defRPr>
            </a:lvl5pPr>
            <a:lvl6pPr>
              <a:defRPr sz="2025" b="1">
                <a:solidFill>
                  <a:srgbClr val="172C40"/>
                </a:solidFill>
                <a:latin typeface="Arial"/>
                <a:ea typeface="Arial"/>
                <a:cs typeface="Arial"/>
              </a:defRPr>
            </a:lvl6pPr>
            <a:lvl7pPr>
              <a:defRPr sz="2025" b="1">
                <a:solidFill>
                  <a:srgbClr val="172C40"/>
                </a:solidFill>
                <a:latin typeface="Arial"/>
                <a:ea typeface="Arial"/>
                <a:cs typeface="Arial"/>
              </a:defRPr>
            </a:lvl7pPr>
            <a:lvl8pPr>
              <a:defRPr sz="2025" b="1">
                <a:solidFill>
                  <a:srgbClr val="172C40"/>
                </a:solidFill>
                <a:latin typeface="Arial"/>
                <a:ea typeface="Arial"/>
                <a:cs typeface="Arial"/>
              </a:defRPr>
            </a:lvl8pPr>
            <a:lvl9pPr>
              <a:defRPr sz="2025" b="1">
                <a:solidFill>
                  <a:srgbClr val="172C40"/>
                </a:solidFill>
                <a:latin typeface="Arial"/>
                <a:ea typeface="Arial"/>
                <a:cs typeface="Arial"/>
              </a:defRPr>
            </a:lvl9pPr>
          </a:lstStyle>
          <a:p xmlns:a="http://schemas.openxmlformats.org/drawingml/2006/main">
            <a:pPr>
              <a:defRPr sz="2025" b="1">
                <a:solidFill>
                  <a:srgbClr val="172C40"/>
                </a:solidFill>
                <a:latin typeface="Arial"/>
                <a:ea typeface="Arial"/>
                <a:cs typeface="Arial"/>
              </a:defRPr>
            </a:pPr>
            <a:r>
              <a:rPr sz="2025" b="1">
                <a:solidFill>
                  <a:srgbClr val="172C40"/>
                </a:solidFill>
                <a:latin typeface="Arial"/>
                <a:ea typeface="Arial"/>
                <a:cs typeface="Arial"/>
              </a:rPr>
              <a:t>Historical associations support questions and tests. They do not prove causal gains, profit or ROI.</a:t>
            </a:r>
          </a:p>
        </p:txBody>
      </p:sp>
    </p:spTree>
    <p:extLst>
      <p:ext uri="{BB962C8B-B14F-4D97-AF65-F5344CB8AC3E}">
        <p14:creationId xmlns:p14="http://schemas.microsoft.com/office/powerpoint/2010/main" val="656745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2026-10-18T17:19:54.5370000Z</dcterms:created>
  <dcterms:modified xsi:type="dcterms:W3CDTF">2026-10-18T17:19:54.5370000Z</dcterms:modified>
</coreProperties>
</file>